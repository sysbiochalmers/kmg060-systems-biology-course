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56" r:id="rId2"/>
    <p:sldId id="484" r:id="rId3"/>
    <p:sldId id="492" r:id="rId4"/>
    <p:sldId id="493" r:id="rId5"/>
    <p:sldId id="491" r:id="rId6"/>
    <p:sldId id="495" r:id="rId7"/>
    <p:sldId id="689" r:id="rId8"/>
    <p:sldId id="690" r:id="rId9"/>
    <p:sldId id="494" r:id="rId10"/>
    <p:sldId id="496" r:id="rId11"/>
    <p:sldId id="497" r:id="rId12"/>
    <p:sldId id="498" r:id="rId13"/>
    <p:sldId id="499" r:id="rId14"/>
    <p:sldId id="454" r:id="rId15"/>
    <p:sldId id="455" r:id="rId16"/>
    <p:sldId id="500" r:id="rId17"/>
    <p:sldId id="489" r:id="rId18"/>
    <p:sldId id="501" r:id="rId19"/>
    <p:sldId id="502" r:id="rId20"/>
    <p:sldId id="486" r:id="rId21"/>
  </p:sldIdLst>
  <p:sldSz cx="9144000" cy="6858000" type="screen4x3"/>
  <p:notesSz cx="9982200" cy="67945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p15:clr>
            <a:srgbClr val="A4A3A4"/>
          </p15:clr>
        </p15:guide>
      </p15:sldGuideLst>
    </p:ext>
    <p:ext uri="{2D200454-40CA-4A62-9FC3-DE9A4176ACB9}">
      <p15:notesGuideLst xmlns:p15="http://schemas.microsoft.com/office/powerpoint/2012/main">
        <p15:guide id="1" orient="horz" pos="2068" userDrawn="1">
          <p15:clr>
            <a:srgbClr val="A4A3A4"/>
          </p15:clr>
        </p15:guide>
        <p15:guide id="2" pos="2809" userDrawn="1">
          <p15:clr>
            <a:srgbClr val="A4A3A4"/>
          </p15:clr>
        </p15:guide>
        <p15:guide id="3" orient="horz" pos="2140" userDrawn="1">
          <p15:clr>
            <a:srgbClr val="A4A3A4"/>
          </p15:clr>
        </p15:guide>
        <p15:guide id="4" pos="3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FFFFFF"/>
    <a:srgbClr val="C0504D"/>
    <a:srgbClr val="F2DCDB"/>
    <a:srgbClr val="C00000"/>
    <a:srgbClr val="E6B9B8"/>
    <a:srgbClr val="4673AA"/>
    <a:srgbClr val="000000"/>
    <a:srgbClr val="F7964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1" autoAdjust="0"/>
    <p:restoredTop sz="90268" autoAdjust="0"/>
  </p:normalViewPr>
  <p:slideViewPr>
    <p:cSldViewPr snapToGrid="0" snapToObjects="1">
      <p:cViewPr>
        <p:scale>
          <a:sx n="100" d="100"/>
          <a:sy n="100" d="100"/>
        </p:scale>
        <p:origin x="1740" y="168"/>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notesViewPr>
    <p:cSldViewPr snapToGrid="0" snapToObjects="1" showGuides="1">
      <p:cViewPr varScale="1">
        <p:scale>
          <a:sx n="131" d="100"/>
          <a:sy n="131" d="100"/>
        </p:scale>
        <p:origin x="-1848" y="-84"/>
      </p:cViewPr>
      <p:guideLst>
        <p:guide orient="horz" pos="2068"/>
        <p:guide pos="2809"/>
        <p:guide orient="horz" pos="2140"/>
        <p:guide pos="314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25620" cy="339725"/>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5654271" y="1"/>
            <a:ext cx="4325620" cy="339725"/>
          </a:xfrm>
          <a:prstGeom prst="rect">
            <a:avLst/>
          </a:prstGeom>
        </p:spPr>
        <p:txBody>
          <a:bodyPr vert="horz" lIns="99048" tIns="49524" rIns="99048" bIns="49524" rtlCol="0"/>
          <a:lstStyle>
            <a:lvl1pPr algn="r">
              <a:defRPr sz="1300"/>
            </a:lvl1pPr>
          </a:lstStyle>
          <a:p>
            <a:fld id="{3949A6FD-419D-4346-9B23-BC2123A1EBB1}" type="datetimeFigureOut">
              <a:rPr lang="en-US" smtClean="0"/>
              <a:t>9/26/2019</a:t>
            </a:fld>
            <a:endParaRPr lang="en-US"/>
          </a:p>
        </p:txBody>
      </p:sp>
      <p:sp>
        <p:nvSpPr>
          <p:cNvPr id="4" name="Footer Placeholder 3"/>
          <p:cNvSpPr>
            <a:spLocks noGrp="1"/>
          </p:cNvSpPr>
          <p:nvPr>
            <p:ph type="ftr" sz="quarter" idx="2"/>
          </p:nvPr>
        </p:nvSpPr>
        <p:spPr>
          <a:xfrm>
            <a:off x="0" y="6453596"/>
            <a:ext cx="4325620" cy="339725"/>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5654271" y="6453596"/>
            <a:ext cx="4325620" cy="339725"/>
          </a:xfrm>
          <a:prstGeom prst="rect">
            <a:avLst/>
          </a:prstGeom>
        </p:spPr>
        <p:txBody>
          <a:bodyPr vert="horz" lIns="99048" tIns="49524" rIns="99048" bIns="49524" rtlCol="0" anchor="b"/>
          <a:lstStyle>
            <a:lvl1pPr algn="r">
              <a:defRPr sz="1300"/>
            </a:lvl1pPr>
          </a:lstStyle>
          <a:p>
            <a:fld id="{803F2842-B5D5-394E-921E-FA6BF675150C}" type="slidenum">
              <a:rPr lang="en-US" smtClean="0"/>
              <a:t>‹#›</a:t>
            </a:fld>
            <a:endParaRPr lang="en-US"/>
          </a:p>
        </p:txBody>
      </p:sp>
    </p:spTree>
    <p:extLst>
      <p:ext uri="{BB962C8B-B14F-4D97-AF65-F5344CB8AC3E}">
        <p14:creationId xmlns:p14="http://schemas.microsoft.com/office/powerpoint/2010/main" val="38801145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25620" cy="339725"/>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idx="1"/>
          </p:nvPr>
        </p:nvSpPr>
        <p:spPr>
          <a:xfrm>
            <a:off x="5654848" y="1"/>
            <a:ext cx="4325620" cy="339725"/>
          </a:xfrm>
          <a:prstGeom prst="rect">
            <a:avLst/>
          </a:prstGeom>
        </p:spPr>
        <p:txBody>
          <a:bodyPr vert="horz" lIns="99048" tIns="49524" rIns="99048" bIns="49524" rtlCol="0"/>
          <a:lstStyle>
            <a:lvl1pPr algn="r">
              <a:defRPr sz="1300"/>
            </a:lvl1pPr>
          </a:lstStyle>
          <a:p>
            <a:fld id="{46A030D7-B4B4-408E-9662-E46FE3DF8DB3}" type="datetimeFigureOut">
              <a:rPr lang="en-GB" smtClean="0"/>
              <a:t>26/09/2019</a:t>
            </a:fld>
            <a:endParaRPr lang="en-GB"/>
          </a:p>
        </p:txBody>
      </p:sp>
      <p:sp>
        <p:nvSpPr>
          <p:cNvPr id="4" name="Slide Image Placeholder 3"/>
          <p:cNvSpPr>
            <a:spLocks noGrp="1" noRot="1" noChangeAspect="1"/>
          </p:cNvSpPr>
          <p:nvPr>
            <p:ph type="sldImg" idx="2"/>
          </p:nvPr>
        </p:nvSpPr>
        <p:spPr>
          <a:xfrm>
            <a:off x="3292475" y="508000"/>
            <a:ext cx="3397250" cy="2547938"/>
          </a:xfrm>
          <a:prstGeom prst="rect">
            <a:avLst/>
          </a:prstGeom>
          <a:noFill/>
          <a:ln w="12700">
            <a:solidFill>
              <a:prstClr val="black"/>
            </a:solidFill>
          </a:ln>
        </p:spPr>
        <p:txBody>
          <a:bodyPr vert="horz" lIns="99048" tIns="49524" rIns="99048" bIns="49524" rtlCol="0" anchor="ctr"/>
          <a:lstStyle/>
          <a:p>
            <a:endParaRPr lang="en-GB"/>
          </a:p>
        </p:txBody>
      </p:sp>
      <p:sp>
        <p:nvSpPr>
          <p:cNvPr id="5" name="Notes Placeholder 4"/>
          <p:cNvSpPr>
            <a:spLocks noGrp="1"/>
          </p:cNvSpPr>
          <p:nvPr>
            <p:ph type="body" sz="quarter" idx="3"/>
          </p:nvPr>
        </p:nvSpPr>
        <p:spPr>
          <a:xfrm>
            <a:off x="998220" y="3227388"/>
            <a:ext cx="7985760" cy="3057525"/>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453203"/>
            <a:ext cx="4325620" cy="339725"/>
          </a:xfrm>
          <a:prstGeom prst="rect">
            <a:avLst/>
          </a:prstGeom>
        </p:spPr>
        <p:txBody>
          <a:bodyPr vert="horz" lIns="99048" tIns="49524" rIns="99048" bIns="49524" rtlCol="0" anchor="b"/>
          <a:lstStyle>
            <a:lvl1pPr algn="l">
              <a:defRPr sz="1300"/>
            </a:lvl1pPr>
          </a:lstStyle>
          <a:p>
            <a:endParaRPr lang="en-GB"/>
          </a:p>
        </p:txBody>
      </p:sp>
      <p:sp>
        <p:nvSpPr>
          <p:cNvPr id="7" name="Slide Number Placeholder 6"/>
          <p:cNvSpPr>
            <a:spLocks noGrp="1"/>
          </p:cNvSpPr>
          <p:nvPr>
            <p:ph type="sldNum" sz="quarter" idx="5"/>
          </p:nvPr>
        </p:nvSpPr>
        <p:spPr>
          <a:xfrm>
            <a:off x="5654848" y="6453203"/>
            <a:ext cx="4325620" cy="339725"/>
          </a:xfrm>
          <a:prstGeom prst="rect">
            <a:avLst/>
          </a:prstGeom>
        </p:spPr>
        <p:txBody>
          <a:bodyPr vert="horz" lIns="99048" tIns="49524" rIns="99048" bIns="49524" rtlCol="0" anchor="b"/>
          <a:lstStyle>
            <a:lvl1pPr algn="r">
              <a:defRPr sz="1300"/>
            </a:lvl1pPr>
          </a:lstStyle>
          <a:p>
            <a:fld id="{FF854925-755B-43B5-B295-9991F28F52C5}" type="slidenum">
              <a:rPr lang="en-GB" smtClean="0"/>
              <a:t>‹#›</a:t>
            </a:fld>
            <a:endParaRPr lang="en-GB"/>
          </a:p>
        </p:txBody>
      </p:sp>
    </p:spTree>
    <p:extLst>
      <p:ext uri="{BB962C8B-B14F-4D97-AF65-F5344CB8AC3E}">
        <p14:creationId xmlns:p14="http://schemas.microsoft.com/office/powerpoint/2010/main" val="141277672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F854925-755B-43B5-B295-9991F28F52C5}" type="slidenum">
              <a:rPr lang="en-GB" smtClean="0"/>
              <a:t>1</a:t>
            </a:fld>
            <a:endParaRPr lang="en-GB"/>
          </a:p>
        </p:txBody>
      </p:sp>
    </p:spTree>
    <p:extLst>
      <p:ext uri="{BB962C8B-B14F-4D97-AF65-F5344CB8AC3E}">
        <p14:creationId xmlns:p14="http://schemas.microsoft.com/office/powerpoint/2010/main" val="2324131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Diffeerence between r ATP</a:t>
            </a:r>
            <a:r>
              <a:rPr lang="en-GB" baseline="0"/>
              <a:t> and r S.</a:t>
            </a:r>
            <a:endParaRPr lang="en-US"/>
          </a:p>
        </p:txBody>
      </p:sp>
      <p:sp>
        <p:nvSpPr>
          <p:cNvPr id="4" name="Slide Number Placeholder 3"/>
          <p:cNvSpPr>
            <a:spLocks noGrp="1"/>
          </p:cNvSpPr>
          <p:nvPr>
            <p:ph type="sldNum" sz="quarter" idx="10"/>
          </p:nvPr>
        </p:nvSpPr>
        <p:spPr/>
        <p:txBody>
          <a:bodyPr/>
          <a:lstStyle/>
          <a:p>
            <a:fld id="{FF854925-755B-43B5-B295-9991F28F52C5}" type="slidenum">
              <a:rPr lang="en-GB" smtClean="0"/>
              <a:t>15</a:t>
            </a:fld>
            <a:endParaRPr lang="en-GB"/>
          </a:p>
        </p:txBody>
      </p:sp>
    </p:spTree>
    <p:extLst>
      <p:ext uri="{BB962C8B-B14F-4D97-AF65-F5344CB8AC3E}">
        <p14:creationId xmlns:p14="http://schemas.microsoft.com/office/powerpoint/2010/main" val="37287049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130425"/>
            <a:ext cx="7772400" cy="1470025"/>
          </a:xfrm>
          <a:prstGeom prst="rect">
            <a:avLst/>
          </a:prstGeom>
        </p:spPr>
        <p:txBody>
          <a:bodyPr/>
          <a:lstStyle>
            <a:lvl1pPr>
              <a:defRPr>
                <a:solidFill>
                  <a:schemeClr val="accent1"/>
                </a:solidFill>
                <a:latin typeface="Calibri" panose="020F0502020204030204" pitchFamily="34" charset="0"/>
                <a:cs typeface="Arial"/>
              </a:defRPr>
            </a:lvl1pPr>
          </a:lstStyle>
          <a:p>
            <a:r>
              <a:rPr lang="hr-HR" dirty="0"/>
              <a:t>TITLE</a:t>
            </a:r>
            <a:endParaRPr lang="en-US" dirty="0"/>
          </a:p>
        </p:txBody>
      </p:sp>
      <p:sp>
        <p:nvSpPr>
          <p:cNvPr id="3" name="Subtitle 2"/>
          <p:cNvSpPr>
            <a:spLocks noGrp="1"/>
          </p:cNvSpPr>
          <p:nvPr>
            <p:ph type="subTitle" idx="1" hasCustomPrompt="1"/>
          </p:nvPr>
        </p:nvSpPr>
        <p:spPr>
          <a:xfrm>
            <a:off x="1371600" y="3886200"/>
            <a:ext cx="6400800" cy="1752600"/>
          </a:xfrm>
          <a:prstGeom prst="rect">
            <a:avLst/>
          </a:prstGeom>
        </p:spPr>
        <p:txBody>
          <a:bodyPr/>
          <a:lstStyle>
            <a:lvl1pPr marL="0" indent="0" algn="ctr">
              <a:buNone/>
              <a:defRPr sz="2400">
                <a:solidFill>
                  <a:schemeClr val="tx1">
                    <a:tint val="75000"/>
                  </a:schemeClr>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r-HR" dirty="0"/>
              <a:t>Subtitle</a:t>
            </a:r>
          </a:p>
          <a:p>
            <a:r>
              <a:rPr lang="hr-HR" dirty="0"/>
              <a:t>Name, affiliation, contact</a:t>
            </a:r>
            <a:endParaRPr lang="en-US" dirty="0"/>
          </a:p>
        </p:txBody>
      </p:sp>
      <p:sp>
        <p:nvSpPr>
          <p:cNvPr id="7" name="Rectangle 6"/>
          <p:cNvSpPr/>
          <p:nvPr userDrawn="1"/>
        </p:nvSpPr>
        <p:spPr>
          <a:xfrm>
            <a:off x="6929609" y="11017"/>
            <a:ext cx="2203374" cy="9144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8" name="Rectangle 7">
            <a:extLst>
              <a:ext uri="{FF2B5EF4-FFF2-40B4-BE49-F238E27FC236}">
                <a16:creationId xmlns:a16="http://schemas.microsoft.com/office/drawing/2014/main" id="{386F0DDD-BFF8-449F-92DA-28BDB6DA62C0}"/>
              </a:ext>
            </a:extLst>
          </p:cNvPr>
          <p:cNvSpPr/>
          <p:nvPr userDrawn="1"/>
        </p:nvSpPr>
        <p:spPr>
          <a:xfrm>
            <a:off x="0" y="6291884"/>
            <a:ext cx="9144000" cy="574346"/>
          </a:xfrm>
          <a:prstGeom prst="rect">
            <a:avLst/>
          </a:prstGeom>
          <a:solidFill>
            <a:srgbClr val="2A6AB2"/>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6181EDF-FD86-466D-84A0-C10C78DC880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369715" y="6335678"/>
            <a:ext cx="420906" cy="481033"/>
          </a:xfrm>
          <a:prstGeom prst="rect">
            <a:avLst/>
          </a:prstGeom>
        </p:spPr>
      </p:pic>
    </p:spTree>
    <p:extLst>
      <p:ext uri="{BB962C8B-B14F-4D97-AF65-F5344CB8AC3E}">
        <p14:creationId xmlns:p14="http://schemas.microsoft.com/office/powerpoint/2010/main" val="2508413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60252" y="840258"/>
            <a:ext cx="8623496" cy="5884099"/>
          </a:xfrm>
          <a:prstGeom prst="rect">
            <a:avLst/>
          </a:prstGeom>
        </p:spPr>
        <p:txBody>
          <a:bodyPr/>
          <a:lstStyle>
            <a:lvl1pPr>
              <a:defRPr sz="2400">
                <a:latin typeface="Calibri" panose="020F0502020204030204" pitchFamily="34" charset="0"/>
              </a:defRPr>
            </a:lvl1pPr>
            <a:lvl2pPr>
              <a:defRPr sz="2000">
                <a:latin typeface="Calibri" panose="020F0502020204030204" pitchFamily="34" charset="0"/>
              </a:defRPr>
            </a:lvl2pPr>
            <a:lvl3pPr>
              <a:defRPr sz="1800">
                <a:latin typeface="Calibri" panose="020F0502020204030204" pitchFamily="34" charset="0"/>
              </a:defRPr>
            </a:lvl3pPr>
            <a:lvl4pPr>
              <a:defRPr sz="1600">
                <a:latin typeface="Calibri" panose="020F0502020204030204" pitchFamily="34" charset="0"/>
              </a:defRPr>
            </a:lvl4pPr>
            <a:lvl5pPr>
              <a:defRPr sz="1600">
                <a:latin typeface="Calibri" panose="020F0502020204030204" pitchFamily="34" charset="0"/>
              </a:defRPr>
            </a:lvl5pPr>
          </a:lstStyle>
          <a:p>
            <a:pPr lvl="0"/>
            <a:r>
              <a:rPr lang="sv-SE" dirty="0" err="1"/>
              <a:t>Click</a:t>
            </a:r>
            <a:r>
              <a:rPr lang="sv-SE" dirty="0"/>
              <a:t> </a:t>
            </a:r>
            <a:r>
              <a:rPr lang="sv-SE" dirty="0" err="1"/>
              <a:t>to</a:t>
            </a:r>
            <a:r>
              <a:rPr lang="sv-SE" dirty="0"/>
              <a:t> </a:t>
            </a:r>
            <a:r>
              <a:rPr lang="sv-SE" dirty="0" err="1"/>
              <a:t>edit</a:t>
            </a:r>
            <a:r>
              <a:rPr lang="sv-SE" dirty="0"/>
              <a:t> Master text </a:t>
            </a:r>
            <a:r>
              <a:rPr lang="sv-SE" dirty="0" err="1"/>
              <a:t>styles</a:t>
            </a:r>
            <a:endParaRPr lang="sv-SE" dirty="0"/>
          </a:p>
          <a:p>
            <a:pPr lvl="1"/>
            <a:r>
              <a:rPr lang="sv-SE" dirty="0"/>
              <a:t>Second </a:t>
            </a:r>
            <a:r>
              <a:rPr lang="sv-SE" dirty="0" err="1"/>
              <a:t>level</a:t>
            </a:r>
            <a:endParaRPr lang="sv-SE" dirty="0"/>
          </a:p>
          <a:p>
            <a:pPr lvl="2"/>
            <a:r>
              <a:rPr lang="sv-SE" dirty="0" err="1"/>
              <a:t>Third</a:t>
            </a:r>
            <a:r>
              <a:rPr lang="sv-SE" dirty="0"/>
              <a:t> </a:t>
            </a:r>
            <a:r>
              <a:rPr lang="sv-SE" dirty="0" err="1"/>
              <a:t>level</a:t>
            </a:r>
            <a:endParaRPr lang="sv-SE" dirty="0"/>
          </a:p>
          <a:p>
            <a:pPr lvl="3"/>
            <a:r>
              <a:rPr lang="sv-SE" dirty="0" err="1"/>
              <a:t>Fourth</a:t>
            </a:r>
            <a:r>
              <a:rPr lang="sv-SE" dirty="0"/>
              <a:t> </a:t>
            </a:r>
            <a:r>
              <a:rPr lang="sv-SE" dirty="0" err="1"/>
              <a:t>level</a:t>
            </a:r>
            <a:endParaRPr lang="sv-SE" dirty="0"/>
          </a:p>
          <a:p>
            <a:pPr lvl="4"/>
            <a:r>
              <a:rPr lang="sv-SE" dirty="0" err="1"/>
              <a:t>Fifth</a:t>
            </a:r>
            <a:r>
              <a:rPr lang="sv-SE" dirty="0"/>
              <a:t> </a:t>
            </a:r>
            <a:r>
              <a:rPr lang="sv-SE" dirty="0" err="1"/>
              <a:t>level</a:t>
            </a:r>
            <a:endParaRPr lang="en-US" dirty="0"/>
          </a:p>
        </p:txBody>
      </p:sp>
      <p:sp>
        <p:nvSpPr>
          <p:cNvPr id="7" name="Title 6"/>
          <p:cNvSpPr>
            <a:spLocks noGrp="1"/>
          </p:cNvSpPr>
          <p:nvPr>
            <p:ph type="title"/>
          </p:nvPr>
        </p:nvSpPr>
        <p:spPr>
          <a:xfrm>
            <a:off x="457200" y="148026"/>
            <a:ext cx="8229600" cy="543952"/>
          </a:xfrm>
          <a:prstGeom prst="rect">
            <a:avLst/>
          </a:prstGeom>
        </p:spPr>
        <p:txBody>
          <a:bodyPr/>
          <a:lstStyle>
            <a:lvl1pPr>
              <a:defRPr sz="2800" b="1">
                <a:latin typeface="Calibri" panose="020F0502020204030204" pitchFamily="34" charset="0"/>
                <a:cs typeface="Arial" panose="020B0604020202020204" pitchFamily="34" charset="0"/>
              </a:defRPr>
            </a:lvl1pPr>
          </a:lstStyle>
          <a:p>
            <a:r>
              <a:rPr lang="en-US" dirty="0"/>
              <a:t>Click to edit Master title style</a:t>
            </a:r>
            <a:endParaRPr lang="en-GB" dirty="0"/>
          </a:p>
        </p:txBody>
      </p:sp>
    </p:spTree>
    <p:extLst>
      <p:ext uri="{BB962C8B-B14F-4D97-AF65-F5344CB8AC3E}">
        <p14:creationId xmlns:p14="http://schemas.microsoft.com/office/powerpoint/2010/main" val="424879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7B61A-6F93-472B-A736-483BB8FE508E}"/>
              </a:ext>
            </a:extLst>
          </p:cNvPr>
          <p:cNvSpPr>
            <a:spLocks noGrp="1"/>
          </p:cNvSpPr>
          <p:nvPr>
            <p:ph type="title"/>
          </p:nvPr>
        </p:nvSpPr>
        <p:spPr>
          <a:xfrm>
            <a:off x="0" y="2802890"/>
            <a:ext cx="9144000" cy="793115"/>
          </a:xfrm>
          <a:prstGeom prst="rect">
            <a:avLst/>
          </a:prstGeom>
        </p:spPr>
        <p:txBody>
          <a:bodyPr/>
          <a:lstStyle>
            <a:lvl1pPr>
              <a:defRPr sz="4000">
                <a:latin typeface="Calibri" panose="020F0502020204030204" pitchFamily="34" charset="0"/>
                <a:cs typeface="Calibri" panose="020F0502020204030204" pitchFamily="34" charset="0"/>
              </a:defRPr>
            </a:lvl1pPr>
          </a:lstStyle>
          <a:p>
            <a:r>
              <a:rPr lang="en-US" dirty="0"/>
              <a:t>Click to edit Master title style</a:t>
            </a:r>
            <a:endParaRPr lang="en-GB" dirty="0"/>
          </a:p>
        </p:txBody>
      </p:sp>
    </p:spTree>
    <p:extLst>
      <p:ext uri="{BB962C8B-B14F-4D97-AF65-F5344CB8AC3E}">
        <p14:creationId xmlns:p14="http://schemas.microsoft.com/office/powerpoint/2010/main" val="23401319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8AE91C-4643-4CE8-921A-B3D664D78A6B}"/>
              </a:ext>
            </a:extLst>
          </p:cNvPr>
          <p:cNvSpPr txBox="1"/>
          <p:nvPr userDrawn="1"/>
        </p:nvSpPr>
        <p:spPr>
          <a:xfrm>
            <a:off x="6562459" y="6396335"/>
            <a:ext cx="2581541" cy="461665"/>
          </a:xfrm>
          <a:prstGeom prst="rect">
            <a:avLst/>
          </a:prstGeom>
          <a:noFill/>
        </p:spPr>
        <p:txBody>
          <a:bodyPr wrap="none" rtlCol="0">
            <a:spAutoFit/>
          </a:bodyPr>
          <a:lstStyle/>
          <a:p>
            <a:r>
              <a:rPr lang="en-GB" sz="2400" b="1">
                <a:latin typeface="Calibri" panose="020F0502020204030204" pitchFamily="34" charset="0"/>
                <a:cs typeface="Calibri" panose="020F0502020204030204" pitchFamily="34" charset="0"/>
              </a:rPr>
              <a:t>http://etc.ch/gQLF</a:t>
            </a:r>
          </a:p>
        </p:txBody>
      </p:sp>
    </p:spTree>
    <p:extLst>
      <p:ext uri="{BB962C8B-B14F-4D97-AF65-F5344CB8AC3E}">
        <p14:creationId xmlns:p14="http://schemas.microsoft.com/office/powerpoint/2010/main" val="630284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457200" rtl="0" eaLnBrk="1" latinLnBrk="0" hangingPunct="1">
        <a:spcBef>
          <a:spcPct val="0"/>
        </a:spcBef>
        <a:buNone/>
        <a:defRPr sz="4400" b="0" i="0" kern="1200">
          <a:solidFill>
            <a:schemeClr val="tx1"/>
          </a:solidFill>
          <a:latin typeface="AvantGarde Medium"/>
          <a:ea typeface="+mj-ea"/>
          <a:cs typeface="AvantGarde Medium"/>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24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irectpoll.com/r?XDbzPBdEt8j1rJlZsZxuVKpDJ4xPFUsXxWCcnRuT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54000" y="1961192"/>
            <a:ext cx="8636000" cy="1049503"/>
          </a:xfrm>
        </p:spPr>
        <p:txBody>
          <a:bodyPr>
            <a:noAutofit/>
          </a:bodyPr>
          <a:lstStyle/>
          <a:p>
            <a:r>
              <a:rPr lang="en-GB" sz="3200">
                <a:solidFill>
                  <a:srgbClr val="2A6AB2"/>
                </a:solidFill>
                <a:latin typeface="Arial" panose="020B0604020202020204" pitchFamily="34" charset="0"/>
                <a:cs typeface="Arial" panose="020B0604020202020204" pitchFamily="34" charset="0"/>
              </a:rPr>
              <a:t>Exercise 2</a:t>
            </a:r>
            <a:endParaRPr lang="en-US" sz="3200" i="1" strike="sngStrike" dirty="0">
              <a:solidFill>
                <a:srgbClr val="2A6AB2"/>
              </a:solidFill>
              <a:latin typeface="Arial" panose="020B0604020202020204" pitchFamily="34" charset="0"/>
              <a:cs typeface="Arial" panose="020B0604020202020204" pitchFamily="34" charset="0"/>
            </a:endParaRPr>
          </a:p>
        </p:txBody>
      </p:sp>
      <p:sp>
        <p:nvSpPr>
          <p:cNvPr id="7" name="Subtitle 6"/>
          <p:cNvSpPr>
            <a:spLocks noGrp="1"/>
          </p:cNvSpPr>
          <p:nvPr>
            <p:ph type="subTitle" idx="1"/>
          </p:nvPr>
        </p:nvSpPr>
        <p:spPr>
          <a:xfrm>
            <a:off x="1524000" y="3618764"/>
            <a:ext cx="6096000" cy="898219"/>
          </a:xfrm>
        </p:spPr>
        <p:txBody>
          <a:bodyPr/>
          <a:lstStyle/>
          <a:p>
            <a:r>
              <a:rPr lang="en-GB" sz="2800" b="1">
                <a:solidFill>
                  <a:schemeClr val="tx1"/>
                </a:solidFill>
                <a:latin typeface="Calibri" panose="020F0502020204030204" pitchFamily="34" charset="0"/>
              </a:rPr>
              <a:t>Eduard Kerkhoven</a:t>
            </a:r>
          </a:p>
          <a:p>
            <a:r>
              <a:rPr lang="en-GB" sz="2800" b="1">
                <a:solidFill>
                  <a:schemeClr val="tx1"/>
                </a:solidFill>
              </a:rPr>
              <a:t>Christoph Börlin; Ivan Domenzain</a:t>
            </a:r>
            <a:endParaRPr lang="en-GB" sz="2800" b="1" dirty="0">
              <a:solidFill>
                <a:schemeClr val="tx1"/>
              </a:solidFill>
              <a:latin typeface="Calibri" panose="020F0502020204030204" pitchFamily="34" charset="0"/>
            </a:endParaRPr>
          </a:p>
          <a:p>
            <a:endParaRPr lang="sv-SE" sz="2000" b="1" dirty="0">
              <a:solidFill>
                <a:schemeClr val="tx1"/>
              </a:solidFill>
              <a:latin typeface="Calibri" panose="020F0502020204030204" pitchFamily="34" charset="0"/>
            </a:endParaRPr>
          </a:p>
          <a:p>
            <a:endParaRPr lang="sv-SE" sz="2000" b="1" dirty="0">
              <a:solidFill>
                <a:schemeClr val="tx1"/>
              </a:solidFill>
              <a:latin typeface="Calibri" panose="020F0502020204030204" pitchFamily="34" charset="0"/>
            </a:endParaRPr>
          </a:p>
          <a:p>
            <a:endParaRPr lang="sv-SE" sz="2000" b="1" dirty="0">
              <a:solidFill>
                <a:schemeClr val="tx1"/>
              </a:solidFill>
              <a:latin typeface="Calibri" panose="020F0502020204030204" pitchFamily="34" charset="0"/>
            </a:endParaRPr>
          </a:p>
          <a:p>
            <a:r>
              <a:rPr lang="sv-SE" sz="2000" b="1">
                <a:solidFill>
                  <a:schemeClr val="tx1"/>
                </a:solidFill>
                <a:latin typeface="Calibri" panose="020F0502020204030204" pitchFamily="34" charset="0"/>
              </a:rPr>
              <a:t>KMG060 – 2019-09-27</a:t>
            </a:r>
            <a:endParaRPr lang="en-GB" sz="2000" dirty="0">
              <a:solidFill>
                <a:schemeClr val="tx1"/>
              </a:solidFill>
              <a:latin typeface="Calibri" panose="020F0502020204030204" pitchFamily="34" charset="0"/>
            </a:endParaRPr>
          </a:p>
        </p:txBody>
      </p:sp>
    </p:spTree>
    <p:extLst>
      <p:ext uri="{BB962C8B-B14F-4D97-AF65-F5344CB8AC3E}">
        <p14:creationId xmlns:p14="http://schemas.microsoft.com/office/powerpoint/2010/main" val="874953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B9A2BE-1573-4E1A-A685-F046299CC49F}"/>
              </a:ext>
            </a:extLst>
          </p:cNvPr>
          <p:cNvSpPr>
            <a:spLocks noGrp="1"/>
          </p:cNvSpPr>
          <p:nvPr>
            <p:ph type="title"/>
          </p:nvPr>
        </p:nvSpPr>
        <p:spPr/>
        <p:txBody>
          <a:bodyPr/>
          <a:lstStyle/>
          <a:p>
            <a:r>
              <a:rPr lang="en-GB"/>
              <a:t>Polyhydroxybutarate production</a:t>
            </a:r>
          </a:p>
        </p:txBody>
      </p:sp>
      <p:pic>
        <p:nvPicPr>
          <p:cNvPr id="6" name="Picture 2">
            <a:extLst>
              <a:ext uri="{FF2B5EF4-FFF2-40B4-BE49-F238E27FC236}">
                <a16:creationId xmlns:a16="http://schemas.microsoft.com/office/drawing/2014/main" id="{160C46E3-7808-4222-AE41-EE3A85E40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695" y="791623"/>
            <a:ext cx="6956587" cy="2705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a:extLst>
              <a:ext uri="{FF2B5EF4-FFF2-40B4-BE49-F238E27FC236}">
                <a16:creationId xmlns:a16="http://schemas.microsoft.com/office/drawing/2014/main" id="{23D1A391-7702-41AB-9C8E-B6010B5EB1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7" y="4009062"/>
            <a:ext cx="8277225" cy="2190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17069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67E41F-DF9D-497C-8E2D-0A8D0359FE43}"/>
              </a:ext>
            </a:extLst>
          </p:cNvPr>
          <p:cNvSpPr>
            <a:spLocks noGrp="1"/>
          </p:cNvSpPr>
          <p:nvPr>
            <p:ph idx="1"/>
          </p:nvPr>
        </p:nvSpPr>
        <p:spPr>
          <a:xfrm>
            <a:off x="260252" y="840258"/>
            <a:ext cx="3364980" cy="5884099"/>
          </a:xfrm>
        </p:spPr>
        <p:txBody>
          <a:bodyPr/>
          <a:lstStyle/>
          <a:p>
            <a:r>
              <a:rPr lang="en-GB"/>
              <a:t>Divert flux towards PHB</a:t>
            </a:r>
          </a:p>
          <a:p>
            <a:endParaRPr lang="en-GB"/>
          </a:p>
          <a:p>
            <a:r>
              <a:rPr lang="en-GB"/>
              <a:t>Effect of growth rate and substrates on PHB production</a:t>
            </a:r>
          </a:p>
          <a:p>
            <a:endParaRPr lang="en-GB"/>
          </a:p>
        </p:txBody>
      </p:sp>
      <p:sp>
        <p:nvSpPr>
          <p:cNvPr id="3" name="Title 2">
            <a:extLst>
              <a:ext uri="{FF2B5EF4-FFF2-40B4-BE49-F238E27FC236}">
                <a16:creationId xmlns:a16="http://schemas.microsoft.com/office/drawing/2014/main" id="{A14F1ECC-EC0C-47F1-974C-AD5C9660C88A}"/>
              </a:ext>
            </a:extLst>
          </p:cNvPr>
          <p:cNvSpPr>
            <a:spLocks noGrp="1"/>
          </p:cNvSpPr>
          <p:nvPr>
            <p:ph type="title"/>
          </p:nvPr>
        </p:nvSpPr>
        <p:spPr/>
        <p:txBody>
          <a:bodyPr/>
          <a:lstStyle/>
          <a:p>
            <a:endParaRPr lang="en-GB"/>
          </a:p>
        </p:txBody>
      </p:sp>
      <p:pic>
        <p:nvPicPr>
          <p:cNvPr id="4" name="Picture 4">
            <a:extLst>
              <a:ext uri="{FF2B5EF4-FFF2-40B4-BE49-F238E27FC236}">
                <a16:creationId xmlns:a16="http://schemas.microsoft.com/office/drawing/2014/main" id="{69E0B4DF-FFD4-4A09-899E-65D535D2DD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0" y="1218674"/>
            <a:ext cx="4368800" cy="50283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7620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B3B3EC-52C3-4DD0-97C5-AE1A53792CFA}"/>
              </a:ext>
            </a:extLst>
          </p:cNvPr>
          <p:cNvSpPr>
            <a:spLocks noGrp="1"/>
          </p:cNvSpPr>
          <p:nvPr>
            <p:ph idx="1"/>
          </p:nvPr>
        </p:nvSpPr>
        <p:spPr/>
        <p:txBody>
          <a:bodyPr/>
          <a:lstStyle/>
          <a:p>
            <a:r>
              <a:rPr lang="en-GB"/>
              <a:t>Simplified schematic of glycolysis, TCA cycle, PHB production and:</a:t>
            </a:r>
          </a:p>
          <a:p>
            <a:pPr lvl="1"/>
            <a:r>
              <a:rPr lang="en-GB"/>
              <a:t>NuclSyn: biosynthesis of nucleotides from ribose 5-phosphate</a:t>
            </a:r>
          </a:p>
          <a:p>
            <a:pPr lvl="1"/>
            <a:r>
              <a:rPr lang="en-GB"/>
              <a:t>AAsyn: biosynthesis of amino acids from pyruvate</a:t>
            </a:r>
          </a:p>
          <a:p>
            <a:pPr lvl="1"/>
            <a:r>
              <a:rPr lang="en-GB"/>
              <a:t>ATPsyn: mitochondrial ATP synthase</a:t>
            </a:r>
          </a:p>
          <a:p>
            <a:pPr lvl="1"/>
            <a:r>
              <a:rPr lang="en-GB"/>
              <a:t>Growth: biomass production</a:t>
            </a:r>
          </a:p>
          <a:p>
            <a:pPr lvl="1"/>
            <a:r>
              <a:rPr lang="en-GB"/>
              <a:t>ATPM: ATP hydrolysis required for maintenance</a:t>
            </a:r>
          </a:p>
          <a:p>
            <a:pPr lvl="1"/>
            <a:r>
              <a:rPr lang="en-GB"/>
              <a:t>Transport reactions</a:t>
            </a:r>
          </a:p>
          <a:p>
            <a:endParaRPr lang="en-GB"/>
          </a:p>
          <a:p>
            <a:r>
              <a:rPr lang="en-GB"/>
              <a:t>Further reduce the complexity of this model:</a:t>
            </a:r>
          </a:p>
          <a:p>
            <a:pPr lvl="1"/>
            <a:r>
              <a:rPr lang="en-GB"/>
              <a:t>By lumping linear reactions (GlcTr + Hxk)</a:t>
            </a:r>
          </a:p>
          <a:p>
            <a:pPr lvl="1"/>
            <a:endParaRPr lang="en-GB"/>
          </a:p>
          <a:p>
            <a:r>
              <a:rPr lang="en-GB"/>
              <a:t>Question 1: Are there other ways to reduce</a:t>
            </a:r>
          </a:p>
          <a:p>
            <a:pPr marL="0" indent="0">
              <a:buNone/>
            </a:pPr>
            <a:r>
              <a:rPr lang="en-GB"/>
              <a:t>	the model size?</a:t>
            </a:r>
          </a:p>
        </p:txBody>
      </p:sp>
      <p:sp>
        <p:nvSpPr>
          <p:cNvPr id="3" name="Title 2">
            <a:extLst>
              <a:ext uri="{FF2B5EF4-FFF2-40B4-BE49-F238E27FC236}">
                <a16:creationId xmlns:a16="http://schemas.microsoft.com/office/drawing/2014/main" id="{E81D3697-DA46-4943-89C0-4ADC9B3F521B}"/>
              </a:ext>
            </a:extLst>
          </p:cNvPr>
          <p:cNvSpPr>
            <a:spLocks noGrp="1"/>
          </p:cNvSpPr>
          <p:nvPr>
            <p:ph type="title"/>
          </p:nvPr>
        </p:nvSpPr>
        <p:spPr/>
        <p:txBody>
          <a:bodyPr/>
          <a:lstStyle/>
          <a:p>
            <a:r>
              <a:rPr lang="en-GB"/>
              <a:t>Question 1</a:t>
            </a:r>
          </a:p>
        </p:txBody>
      </p:sp>
      <p:pic>
        <p:nvPicPr>
          <p:cNvPr id="1028" name="Picture 4" descr="https://etc.ch/gQLF?qr">
            <a:hlinkClick r:id="rId2"/>
            <a:extLst>
              <a:ext uri="{FF2B5EF4-FFF2-40B4-BE49-F238E27FC236}">
                <a16:creationId xmlns:a16="http://schemas.microsoft.com/office/drawing/2014/main" id="{43FAE35E-0DA0-4609-899D-4DC6BD33F0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0104" y="4028030"/>
            <a:ext cx="2563150" cy="2563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6D3041F-5AA1-40C1-96ED-655C6D6B34EB}"/>
              </a:ext>
            </a:extLst>
          </p:cNvPr>
          <p:cNvSpPr txBox="1"/>
          <p:nvPr/>
        </p:nvSpPr>
        <p:spPr>
          <a:xfrm>
            <a:off x="6562459" y="6396335"/>
            <a:ext cx="2581541" cy="461665"/>
          </a:xfrm>
          <a:prstGeom prst="rect">
            <a:avLst/>
          </a:prstGeom>
          <a:noFill/>
        </p:spPr>
        <p:txBody>
          <a:bodyPr wrap="none" rtlCol="0">
            <a:spAutoFit/>
          </a:bodyPr>
          <a:lstStyle/>
          <a:p>
            <a:r>
              <a:rPr lang="en-GB" sz="2400" b="1">
                <a:latin typeface="Calibri" panose="020F0502020204030204" pitchFamily="34" charset="0"/>
                <a:cs typeface="Calibri" panose="020F0502020204030204" pitchFamily="34" charset="0"/>
              </a:rPr>
              <a:t>http://etc.ch/gQLF</a:t>
            </a:r>
          </a:p>
        </p:txBody>
      </p:sp>
    </p:spTree>
    <p:extLst>
      <p:ext uri="{BB962C8B-B14F-4D97-AF65-F5344CB8AC3E}">
        <p14:creationId xmlns:p14="http://schemas.microsoft.com/office/powerpoint/2010/main" val="547805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D9808A-CCC2-4A0D-830A-2619C968C5AC}"/>
              </a:ext>
            </a:extLst>
          </p:cNvPr>
          <p:cNvSpPr>
            <a:spLocks noGrp="1"/>
          </p:cNvSpPr>
          <p:nvPr>
            <p:ph type="title"/>
          </p:nvPr>
        </p:nvSpPr>
        <p:spPr/>
        <p:txBody>
          <a:bodyPr/>
          <a:lstStyle/>
          <a:p>
            <a:r>
              <a:rPr lang="en-GB"/>
              <a:t>Reduced model</a:t>
            </a:r>
          </a:p>
        </p:txBody>
      </p:sp>
      <p:sp>
        <p:nvSpPr>
          <p:cNvPr id="4" name="TextBox 3">
            <a:extLst>
              <a:ext uri="{FF2B5EF4-FFF2-40B4-BE49-F238E27FC236}">
                <a16:creationId xmlns:a16="http://schemas.microsoft.com/office/drawing/2014/main" id="{93697CC2-8A07-4F3C-B898-29209BEA1D34}"/>
              </a:ext>
            </a:extLst>
          </p:cNvPr>
          <p:cNvSpPr txBox="1"/>
          <p:nvPr/>
        </p:nvSpPr>
        <p:spPr>
          <a:xfrm>
            <a:off x="1369657" y="1327123"/>
            <a:ext cx="1141338"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Glucose</a:t>
            </a:r>
            <a:r>
              <a:rPr lang="en-GB" baseline="-25000">
                <a:latin typeface="Calibri" panose="020F0502020204030204" pitchFamily="34" charset="0"/>
                <a:cs typeface="Calibri" panose="020F0502020204030204" pitchFamily="34" charset="0"/>
              </a:rPr>
              <a:t>out</a:t>
            </a:r>
            <a:endParaRPr lang="en-GB">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46E2914-6C5C-4F12-8D5F-A83DD662BBC4}"/>
              </a:ext>
            </a:extLst>
          </p:cNvPr>
          <p:cNvSpPr txBox="1"/>
          <p:nvPr/>
        </p:nvSpPr>
        <p:spPr>
          <a:xfrm>
            <a:off x="1581895" y="2152511"/>
            <a:ext cx="716863"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Glc6P</a:t>
            </a:r>
          </a:p>
        </p:txBody>
      </p:sp>
      <p:sp>
        <p:nvSpPr>
          <p:cNvPr id="7" name="TextBox 6">
            <a:extLst>
              <a:ext uri="{FF2B5EF4-FFF2-40B4-BE49-F238E27FC236}">
                <a16:creationId xmlns:a16="http://schemas.microsoft.com/office/drawing/2014/main" id="{E6662BA6-25AA-4A3E-8F48-C97C56754B9E}"/>
              </a:ext>
            </a:extLst>
          </p:cNvPr>
          <p:cNvSpPr txBox="1"/>
          <p:nvPr/>
        </p:nvSpPr>
        <p:spPr>
          <a:xfrm>
            <a:off x="1576284" y="2977899"/>
            <a:ext cx="728084"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Fru6P</a:t>
            </a:r>
          </a:p>
        </p:txBody>
      </p:sp>
      <p:sp>
        <p:nvSpPr>
          <p:cNvPr id="9" name="TextBox 8">
            <a:extLst>
              <a:ext uri="{FF2B5EF4-FFF2-40B4-BE49-F238E27FC236}">
                <a16:creationId xmlns:a16="http://schemas.microsoft.com/office/drawing/2014/main" id="{96F4D262-9312-4B25-B0B6-A5864718EB14}"/>
              </a:ext>
            </a:extLst>
          </p:cNvPr>
          <p:cNvSpPr txBox="1"/>
          <p:nvPr/>
        </p:nvSpPr>
        <p:spPr>
          <a:xfrm>
            <a:off x="3053243" y="2913163"/>
            <a:ext cx="841897"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Ribu5P</a:t>
            </a:r>
          </a:p>
        </p:txBody>
      </p:sp>
      <p:sp>
        <p:nvSpPr>
          <p:cNvPr id="10" name="TextBox 9">
            <a:extLst>
              <a:ext uri="{FF2B5EF4-FFF2-40B4-BE49-F238E27FC236}">
                <a16:creationId xmlns:a16="http://schemas.microsoft.com/office/drawing/2014/main" id="{4C1ADF17-550F-4E1C-9A41-2BC70E731A61}"/>
              </a:ext>
            </a:extLst>
          </p:cNvPr>
          <p:cNvSpPr txBox="1"/>
          <p:nvPr/>
        </p:nvSpPr>
        <p:spPr>
          <a:xfrm>
            <a:off x="4294896" y="2913163"/>
            <a:ext cx="720069"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Rib5P</a:t>
            </a:r>
          </a:p>
        </p:txBody>
      </p:sp>
      <p:sp>
        <p:nvSpPr>
          <p:cNvPr id="11" name="TextBox 10">
            <a:extLst>
              <a:ext uri="{FF2B5EF4-FFF2-40B4-BE49-F238E27FC236}">
                <a16:creationId xmlns:a16="http://schemas.microsoft.com/office/drawing/2014/main" id="{30E24B7C-C6DE-402B-A17C-CEAFA09D8F77}"/>
              </a:ext>
            </a:extLst>
          </p:cNvPr>
          <p:cNvSpPr txBox="1"/>
          <p:nvPr/>
        </p:nvSpPr>
        <p:spPr>
          <a:xfrm>
            <a:off x="1590711" y="3803287"/>
            <a:ext cx="699230"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GA3P</a:t>
            </a:r>
          </a:p>
        </p:txBody>
      </p:sp>
      <p:sp>
        <p:nvSpPr>
          <p:cNvPr id="12" name="TextBox 11">
            <a:extLst>
              <a:ext uri="{FF2B5EF4-FFF2-40B4-BE49-F238E27FC236}">
                <a16:creationId xmlns:a16="http://schemas.microsoft.com/office/drawing/2014/main" id="{B97F3713-6F48-4811-9CCB-6CCDF4A4108D}"/>
              </a:ext>
            </a:extLst>
          </p:cNvPr>
          <p:cNvSpPr txBox="1"/>
          <p:nvPr/>
        </p:nvSpPr>
        <p:spPr>
          <a:xfrm>
            <a:off x="1435348" y="4628675"/>
            <a:ext cx="1009956"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Pyruvate</a:t>
            </a:r>
          </a:p>
        </p:txBody>
      </p:sp>
      <p:sp>
        <p:nvSpPr>
          <p:cNvPr id="13" name="TextBox 12">
            <a:extLst>
              <a:ext uri="{FF2B5EF4-FFF2-40B4-BE49-F238E27FC236}">
                <a16:creationId xmlns:a16="http://schemas.microsoft.com/office/drawing/2014/main" id="{3944D07B-41E2-4944-987A-FD9C95CCD336}"/>
              </a:ext>
            </a:extLst>
          </p:cNvPr>
          <p:cNvSpPr txBox="1"/>
          <p:nvPr/>
        </p:nvSpPr>
        <p:spPr>
          <a:xfrm>
            <a:off x="551601" y="4858502"/>
            <a:ext cx="798617" cy="646331"/>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Amino</a:t>
            </a:r>
          </a:p>
          <a:p>
            <a:pPr algn="ctr"/>
            <a:r>
              <a:rPr lang="en-GB">
                <a:latin typeface="Calibri" panose="020F0502020204030204" pitchFamily="34" charset="0"/>
                <a:cs typeface="Calibri" panose="020F0502020204030204" pitchFamily="34" charset="0"/>
              </a:rPr>
              <a:t>acids</a:t>
            </a:r>
          </a:p>
        </p:txBody>
      </p:sp>
      <p:sp>
        <p:nvSpPr>
          <p:cNvPr id="14" name="TextBox 13">
            <a:extLst>
              <a:ext uri="{FF2B5EF4-FFF2-40B4-BE49-F238E27FC236}">
                <a16:creationId xmlns:a16="http://schemas.microsoft.com/office/drawing/2014/main" id="{EE9C72F0-FDEF-4C7F-B051-2F22C80483C2}"/>
              </a:ext>
            </a:extLst>
          </p:cNvPr>
          <p:cNvSpPr txBox="1"/>
          <p:nvPr/>
        </p:nvSpPr>
        <p:spPr>
          <a:xfrm>
            <a:off x="2743769" y="4628675"/>
            <a:ext cx="1460849"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Acetaldehyde</a:t>
            </a:r>
          </a:p>
        </p:txBody>
      </p:sp>
      <p:sp>
        <p:nvSpPr>
          <p:cNvPr id="16" name="TextBox 15">
            <a:extLst>
              <a:ext uri="{FF2B5EF4-FFF2-40B4-BE49-F238E27FC236}">
                <a16:creationId xmlns:a16="http://schemas.microsoft.com/office/drawing/2014/main" id="{0C8CE21E-DD5E-4733-8029-01CD56F12672}"/>
              </a:ext>
            </a:extLst>
          </p:cNvPr>
          <p:cNvSpPr txBox="1"/>
          <p:nvPr/>
        </p:nvSpPr>
        <p:spPr>
          <a:xfrm>
            <a:off x="3033753" y="5473573"/>
            <a:ext cx="880882"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EtOH</a:t>
            </a:r>
            <a:r>
              <a:rPr lang="en-GB" baseline="-25000">
                <a:latin typeface="Calibri" panose="020F0502020204030204" pitchFamily="34" charset="0"/>
                <a:cs typeface="Calibri" panose="020F0502020204030204" pitchFamily="34" charset="0"/>
              </a:rPr>
              <a:t>out</a:t>
            </a:r>
          </a:p>
        </p:txBody>
      </p:sp>
      <p:sp>
        <p:nvSpPr>
          <p:cNvPr id="17" name="TextBox 16">
            <a:extLst>
              <a:ext uri="{FF2B5EF4-FFF2-40B4-BE49-F238E27FC236}">
                <a16:creationId xmlns:a16="http://schemas.microsoft.com/office/drawing/2014/main" id="{8E0612B5-E4D7-4EC3-908D-758E61AB296C}"/>
              </a:ext>
            </a:extLst>
          </p:cNvPr>
          <p:cNvSpPr txBox="1"/>
          <p:nvPr/>
        </p:nvSpPr>
        <p:spPr>
          <a:xfrm>
            <a:off x="4859726" y="4628675"/>
            <a:ext cx="785793"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PHB</a:t>
            </a:r>
            <a:r>
              <a:rPr lang="en-GB" baseline="-25000">
                <a:latin typeface="Calibri" panose="020F0502020204030204" pitchFamily="34" charset="0"/>
                <a:cs typeface="Calibri" panose="020F0502020204030204" pitchFamily="34" charset="0"/>
              </a:rPr>
              <a:t>out</a:t>
            </a:r>
            <a:endParaRPr lang="en-GB">
              <a:latin typeface="Calibri" panose="020F0502020204030204" pitchFamily="34" charset="0"/>
              <a:cs typeface="Calibri" panose="020F0502020204030204" pitchFamily="34" charset="0"/>
            </a:endParaRPr>
          </a:p>
        </p:txBody>
      </p:sp>
      <p:cxnSp>
        <p:nvCxnSpPr>
          <p:cNvPr id="20" name="Straight Arrow Connector 19">
            <a:extLst>
              <a:ext uri="{FF2B5EF4-FFF2-40B4-BE49-F238E27FC236}">
                <a16:creationId xmlns:a16="http://schemas.microsoft.com/office/drawing/2014/main" id="{5A1DC628-9D8A-426C-9958-26671F294264}"/>
              </a:ext>
            </a:extLst>
          </p:cNvPr>
          <p:cNvCxnSpPr>
            <a:stCxn id="4" idx="2"/>
            <a:endCxn id="6" idx="0"/>
          </p:cNvCxnSpPr>
          <p:nvPr/>
        </p:nvCxnSpPr>
        <p:spPr>
          <a:xfrm>
            <a:off x="1940326" y="1696455"/>
            <a:ext cx="1" cy="456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591A9D27-F4CD-4F9B-A71A-8E446603728C}"/>
              </a:ext>
            </a:extLst>
          </p:cNvPr>
          <p:cNvCxnSpPr>
            <a:stCxn id="6" idx="2"/>
            <a:endCxn id="7" idx="0"/>
          </p:cNvCxnSpPr>
          <p:nvPr/>
        </p:nvCxnSpPr>
        <p:spPr>
          <a:xfrm flipH="1">
            <a:off x="1940326" y="2521843"/>
            <a:ext cx="1" cy="456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1F9690F-86BA-41F2-9C63-3847E955F97A}"/>
              </a:ext>
            </a:extLst>
          </p:cNvPr>
          <p:cNvCxnSpPr>
            <a:stCxn id="7" idx="2"/>
            <a:endCxn id="11" idx="0"/>
          </p:cNvCxnSpPr>
          <p:nvPr/>
        </p:nvCxnSpPr>
        <p:spPr>
          <a:xfrm>
            <a:off x="1940326" y="3347231"/>
            <a:ext cx="0" cy="456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49CFE956-ACA5-4FC7-B2EF-D13526CBB0A3}"/>
              </a:ext>
            </a:extLst>
          </p:cNvPr>
          <p:cNvCxnSpPr>
            <a:stCxn id="6" idx="3"/>
            <a:endCxn id="9" idx="0"/>
          </p:cNvCxnSpPr>
          <p:nvPr/>
        </p:nvCxnSpPr>
        <p:spPr>
          <a:xfrm>
            <a:off x="2298758" y="2337177"/>
            <a:ext cx="1175434" cy="57598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Connector: Elbow 29">
            <a:extLst>
              <a:ext uri="{FF2B5EF4-FFF2-40B4-BE49-F238E27FC236}">
                <a16:creationId xmlns:a16="http://schemas.microsoft.com/office/drawing/2014/main" id="{79DAA2BB-166A-49AC-A8E6-52AC0F442C25}"/>
              </a:ext>
            </a:extLst>
          </p:cNvPr>
          <p:cNvCxnSpPr>
            <a:stCxn id="9" idx="2"/>
            <a:endCxn id="7" idx="3"/>
          </p:cNvCxnSpPr>
          <p:nvPr/>
        </p:nvCxnSpPr>
        <p:spPr>
          <a:xfrm rot="5400000" flipH="1">
            <a:off x="2829315" y="2637618"/>
            <a:ext cx="119930" cy="1169824"/>
          </a:xfrm>
          <a:prstGeom prst="bentConnector4">
            <a:avLst>
              <a:gd name="adj1" fmla="val -588702"/>
              <a:gd name="adj2" fmla="val 6799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0835D9C6-459B-4214-B5F0-B52372E69931}"/>
              </a:ext>
            </a:extLst>
          </p:cNvPr>
          <p:cNvCxnSpPr>
            <a:stCxn id="10" idx="2"/>
            <a:endCxn id="11" idx="3"/>
          </p:cNvCxnSpPr>
          <p:nvPr/>
        </p:nvCxnSpPr>
        <p:spPr>
          <a:xfrm rot="5400000">
            <a:off x="3119707" y="2452729"/>
            <a:ext cx="705458" cy="236499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E8E84DAC-B6C0-4924-9483-CDC8D609B612}"/>
              </a:ext>
            </a:extLst>
          </p:cNvPr>
          <p:cNvSpPr txBox="1"/>
          <p:nvPr/>
        </p:nvSpPr>
        <p:spPr>
          <a:xfrm>
            <a:off x="4007584" y="2159284"/>
            <a:ext cx="1300356"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Nucleotides</a:t>
            </a:r>
          </a:p>
        </p:txBody>
      </p:sp>
      <p:cxnSp>
        <p:nvCxnSpPr>
          <p:cNvPr id="38" name="Straight Arrow Connector 37">
            <a:extLst>
              <a:ext uri="{FF2B5EF4-FFF2-40B4-BE49-F238E27FC236}">
                <a16:creationId xmlns:a16="http://schemas.microsoft.com/office/drawing/2014/main" id="{F3212367-94B7-48FE-9F78-E8E6F3FBD522}"/>
              </a:ext>
            </a:extLst>
          </p:cNvPr>
          <p:cNvCxnSpPr>
            <a:stCxn id="11" idx="2"/>
            <a:endCxn id="12" idx="0"/>
          </p:cNvCxnSpPr>
          <p:nvPr/>
        </p:nvCxnSpPr>
        <p:spPr>
          <a:xfrm>
            <a:off x="1940326" y="4172619"/>
            <a:ext cx="0" cy="456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1926EB87-437E-4360-A7C7-4505C6929F35}"/>
              </a:ext>
            </a:extLst>
          </p:cNvPr>
          <p:cNvCxnSpPr>
            <a:cxnSpLocks/>
          </p:cNvCxnSpPr>
          <p:nvPr/>
        </p:nvCxnSpPr>
        <p:spPr>
          <a:xfrm flipH="1">
            <a:off x="1285218" y="4824231"/>
            <a:ext cx="187133" cy="173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FE431197-16C0-47AB-8813-F33408508723}"/>
              </a:ext>
            </a:extLst>
          </p:cNvPr>
          <p:cNvCxnSpPr>
            <a:stCxn id="12" idx="3"/>
            <a:endCxn id="14" idx="1"/>
          </p:cNvCxnSpPr>
          <p:nvPr/>
        </p:nvCxnSpPr>
        <p:spPr>
          <a:xfrm>
            <a:off x="2445304" y="4813341"/>
            <a:ext cx="2984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E1B37240-E5FC-4BAF-B56C-A9C1887C40D1}"/>
              </a:ext>
            </a:extLst>
          </p:cNvPr>
          <p:cNvSpPr txBox="1"/>
          <p:nvPr/>
        </p:nvSpPr>
        <p:spPr>
          <a:xfrm>
            <a:off x="1303393" y="5473573"/>
            <a:ext cx="1273875" cy="646331"/>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3 CO</a:t>
            </a:r>
            <a:r>
              <a:rPr lang="en-GB" baseline="-25000">
                <a:latin typeface="Calibri" panose="020F0502020204030204" pitchFamily="34" charset="0"/>
                <a:cs typeface="Calibri" panose="020F0502020204030204" pitchFamily="34" charset="0"/>
              </a:rPr>
              <a:t>2</a:t>
            </a:r>
            <a:r>
              <a:rPr lang="en-GB">
                <a:latin typeface="Calibri" panose="020F0502020204030204" pitchFamily="34" charset="0"/>
                <a:cs typeface="Calibri" panose="020F0502020204030204" pitchFamily="34" charset="0"/>
              </a:rPr>
              <a:t> + ATP</a:t>
            </a:r>
          </a:p>
          <a:p>
            <a:pPr algn="ctr"/>
            <a:r>
              <a:rPr lang="en-GB">
                <a:latin typeface="Calibri" panose="020F0502020204030204" pitchFamily="34" charset="0"/>
                <a:cs typeface="Calibri" panose="020F0502020204030204" pitchFamily="34" charset="0"/>
              </a:rPr>
              <a:t>+ 5 NADH</a:t>
            </a:r>
          </a:p>
        </p:txBody>
      </p:sp>
      <p:cxnSp>
        <p:nvCxnSpPr>
          <p:cNvPr id="46" name="Straight Arrow Connector 45">
            <a:extLst>
              <a:ext uri="{FF2B5EF4-FFF2-40B4-BE49-F238E27FC236}">
                <a16:creationId xmlns:a16="http://schemas.microsoft.com/office/drawing/2014/main" id="{5965D961-4B36-459A-AB42-2B5BDD97A287}"/>
              </a:ext>
            </a:extLst>
          </p:cNvPr>
          <p:cNvCxnSpPr>
            <a:stCxn id="12" idx="2"/>
            <a:endCxn id="44" idx="0"/>
          </p:cNvCxnSpPr>
          <p:nvPr/>
        </p:nvCxnSpPr>
        <p:spPr>
          <a:xfrm>
            <a:off x="1940326" y="4998007"/>
            <a:ext cx="5" cy="4755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8C8686B-2399-4715-B97E-4FE586364665}"/>
              </a:ext>
            </a:extLst>
          </p:cNvPr>
          <p:cNvCxnSpPr>
            <a:stCxn id="14" idx="2"/>
            <a:endCxn id="16" idx="0"/>
          </p:cNvCxnSpPr>
          <p:nvPr/>
        </p:nvCxnSpPr>
        <p:spPr>
          <a:xfrm>
            <a:off x="3474194" y="4998007"/>
            <a:ext cx="0" cy="4755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562986D7-A630-478A-8C8D-2D190745C1C2}"/>
              </a:ext>
            </a:extLst>
          </p:cNvPr>
          <p:cNvCxnSpPr>
            <a:stCxn id="14" idx="3"/>
            <a:endCxn id="17" idx="1"/>
          </p:cNvCxnSpPr>
          <p:nvPr/>
        </p:nvCxnSpPr>
        <p:spPr>
          <a:xfrm>
            <a:off x="4204618" y="4813341"/>
            <a:ext cx="6551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626DE7B9-8525-408E-B22C-D67818201AC3}"/>
              </a:ext>
            </a:extLst>
          </p:cNvPr>
          <p:cNvCxnSpPr>
            <a:cxnSpLocks/>
            <a:stCxn id="10" idx="0"/>
            <a:endCxn id="35" idx="2"/>
          </p:cNvCxnSpPr>
          <p:nvPr/>
        </p:nvCxnSpPr>
        <p:spPr>
          <a:xfrm flipV="1">
            <a:off x="4654931" y="2528616"/>
            <a:ext cx="2831" cy="3845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78BB5AF7-4A12-4B8F-9B9F-8F2AEC537675}"/>
              </a:ext>
            </a:extLst>
          </p:cNvPr>
          <p:cNvSpPr txBox="1"/>
          <p:nvPr/>
        </p:nvSpPr>
        <p:spPr>
          <a:xfrm>
            <a:off x="5680946" y="1471027"/>
            <a:ext cx="1414170"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2 NADH + O</a:t>
            </a:r>
            <a:r>
              <a:rPr lang="en-GB" baseline="-25000">
                <a:latin typeface="Calibri" panose="020F0502020204030204" pitchFamily="34" charset="0"/>
                <a:cs typeface="Calibri" panose="020F0502020204030204" pitchFamily="34" charset="0"/>
              </a:rPr>
              <a:t>2</a:t>
            </a:r>
          </a:p>
        </p:txBody>
      </p:sp>
      <p:sp>
        <p:nvSpPr>
          <p:cNvPr id="58" name="TextBox 57">
            <a:extLst>
              <a:ext uri="{FF2B5EF4-FFF2-40B4-BE49-F238E27FC236}">
                <a16:creationId xmlns:a16="http://schemas.microsoft.com/office/drawing/2014/main" id="{A8A8FED2-FB44-492C-AE4B-5F75B8A846F9}"/>
              </a:ext>
            </a:extLst>
          </p:cNvPr>
          <p:cNvSpPr txBox="1"/>
          <p:nvPr/>
        </p:nvSpPr>
        <p:spPr>
          <a:xfrm>
            <a:off x="7475026" y="1471027"/>
            <a:ext cx="1312347"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5 ATP + CO2</a:t>
            </a:r>
          </a:p>
        </p:txBody>
      </p:sp>
      <p:cxnSp>
        <p:nvCxnSpPr>
          <p:cNvPr id="59" name="Straight Arrow Connector 58">
            <a:extLst>
              <a:ext uri="{FF2B5EF4-FFF2-40B4-BE49-F238E27FC236}">
                <a16:creationId xmlns:a16="http://schemas.microsoft.com/office/drawing/2014/main" id="{4F7BAE9B-F45D-42F5-8311-54FAAC0C48BD}"/>
              </a:ext>
            </a:extLst>
          </p:cNvPr>
          <p:cNvCxnSpPr>
            <a:cxnSpLocks/>
          </p:cNvCxnSpPr>
          <p:nvPr/>
        </p:nvCxnSpPr>
        <p:spPr>
          <a:xfrm>
            <a:off x="7091446" y="1655693"/>
            <a:ext cx="3799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586A07BB-F0A4-47A2-9AFB-82B69CFCD73E}"/>
              </a:ext>
            </a:extLst>
          </p:cNvPr>
          <p:cNvSpPr txBox="1"/>
          <p:nvPr/>
        </p:nvSpPr>
        <p:spPr>
          <a:xfrm>
            <a:off x="5235571" y="3347231"/>
            <a:ext cx="1896288" cy="923330"/>
          </a:xfrm>
          <a:prstGeom prst="rect">
            <a:avLst/>
          </a:prstGeom>
          <a:noFill/>
        </p:spPr>
        <p:txBody>
          <a:bodyPr wrap="none" rtlCol="0">
            <a:spAutoFit/>
          </a:bodyPr>
          <a:lstStyle/>
          <a:p>
            <a:pPr algn="r"/>
            <a:r>
              <a:rPr lang="en-GB">
                <a:latin typeface="Calibri" panose="020F0502020204030204" pitchFamily="34" charset="0"/>
                <a:cs typeface="Calibri" panose="020F0502020204030204" pitchFamily="34" charset="0"/>
              </a:rPr>
              <a:t>4.3 amino acids +</a:t>
            </a:r>
          </a:p>
          <a:p>
            <a:pPr algn="r"/>
            <a:r>
              <a:rPr lang="en-GB">
                <a:latin typeface="Calibri" panose="020F0502020204030204" pitchFamily="34" charset="0"/>
                <a:cs typeface="Calibri" panose="020F0502020204030204" pitchFamily="34" charset="0"/>
              </a:rPr>
              <a:t>0.4 nucleotides +</a:t>
            </a:r>
          </a:p>
          <a:p>
            <a:pPr algn="r"/>
            <a:r>
              <a:rPr lang="en-GB">
                <a:latin typeface="Calibri" panose="020F0502020204030204" pitchFamily="34" charset="0"/>
                <a:cs typeface="Calibri" panose="020F0502020204030204" pitchFamily="34" charset="0"/>
              </a:rPr>
              <a:t>25 ATP + 2 NADPH</a:t>
            </a:r>
          </a:p>
        </p:txBody>
      </p:sp>
      <p:sp>
        <p:nvSpPr>
          <p:cNvPr id="62" name="TextBox 61">
            <a:extLst>
              <a:ext uri="{FF2B5EF4-FFF2-40B4-BE49-F238E27FC236}">
                <a16:creationId xmlns:a16="http://schemas.microsoft.com/office/drawing/2014/main" id="{BF97AD91-D137-4DE2-B835-0ABF61122072}"/>
              </a:ext>
            </a:extLst>
          </p:cNvPr>
          <p:cNvSpPr txBox="1"/>
          <p:nvPr/>
        </p:nvSpPr>
        <p:spPr>
          <a:xfrm>
            <a:off x="7507794" y="3629840"/>
            <a:ext cx="955711"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biomass</a:t>
            </a:r>
          </a:p>
        </p:txBody>
      </p:sp>
      <p:cxnSp>
        <p:nvCxnSpPr>
          <p:cNvPr id="63" name="Straight Arrow Connector 62">
            <a:extLst>
              <a:ext uri="{FF2B5EF4-FFF2-40B4-BE49-F238E27FC236}">
                <a16:creationId xmlns:a16="http://schemas.microsoft.com/office/drawing/2014/main" id="{0BD1867E-2365-464A-BAB4-863D218E32E6}"/>
              </a:ext>
            </a:extLst>
          </p:cNvPr>
          <p:cNvCxnSpPr>
            <a:cxnSpLocks/>
            <a:stCxn id="61" idx="3"/>
            <a:endCxn id="62" idx="1"/>
          </p:cNvCxnSpPr>
          <p:nvPr/>
        </p:nvCxnSpPr>
        <p:spPr>
          <a:xfrm>
            <a:off x="7131859" y="3808896"/>
            <a:ext cx="375935" cy="56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08E62A0C-8F6A-425B-8E4A-B7DDB426E3CA}"/>
              </a:ext>
            </a:extLst>
          </p:cNvPr>
          <p:cNvSpPr txBox="1"/>
          <p:nvPr/>
        </p:nvSpPr>
        <p:spPr>
          <a:xfrm>
            <a:off x="6557246" y="1839938"/>
            <a:ext cx="530530" cy="369332"/>
          </a:xfrm>
          <a:prstGeom prst="rect">
            <a:avLst/>
          </a:prstGeom>
          <a:noFill/>
        </p:spPr>
        <p:txBody>
          <a:bodyPr wrap="none" rtlCol="0">
            <a:spAutoFit/>
          </a:bodyPr>
          <a:lstStyle/>
          <a:p>
            <a:pPr algn="r"/>
            <a:r>
              <a:rPr lang="en-GB">
                <a:latin typeface="Calibri" panose="020F0502020204030204" pitchFamily="34" charset="0"/>
                <a:cs typeface="Calibri" panose="020F0502020204030204" pitchFamily="34" charset="0"/>
              </a:rPr>
              <a:t>ATP</a:t>
            </a:r>
          </a:p>
        </p:txBody>
      </p:sp>
      <p:cxnSp>
        <p:nvCxnSpPr>
          <p:cNvPr id="67" name="Straight Arrow Connector 66">
            <a:extLst>
              <a:ext uri="{FF2B5EF4-FFF2-40B4-BE49-F238E27FC236}">
                <a16:creationId xmlns:a16="http://schemas.microsoft.com/office/drawing/2014/main" id="{2AE41E9B-60ED-4ACD-A285-5EE6C5267DE9}"/>
              </a:ext>
            </a:extLst>
          </p:cNvPr>
          <p:cNvCxnSpPr>
            <a:cxnSpLocks/>
          </p:cNvCxnSpPr>
          <p:nvPr/>
        </p:nvCxnSpPr>
        <p:spPr>
          <a:xfrm>
            <a:off x="7087776" y="2021471"/>
            <a:ext cx="3872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60C9CE1B-B2E2-4A75-A722-C5AC323C41F0}"/>
              </a:ext>
            </a:extLst>
          </p:cNvPr>
          <p:cNvSpPr txBox="1"/>
          <p:nvPr/>
        </p:nvSpPr>
        <p:spPr>
          <a:xfrm>
            <a:off x="6558238" y="2568362"/>
            <a:ext cx="536878" cy="369332"/>
          </a:xfrm>
          <a:prstGeom prst="rect">
            <a:avLst/>
          </a:prstGeom>
          <a:noFill/>
        </p:spPr>
        <p:txBody>
          <a:bodyPr wrap="none" rtlCol="0">
            <a:spAutoFit/>
          </a:bodyPr>
          <a:lstStyle/>
          <a:p>
            <a:pPr algn="r"/>
            <a:r>
              <a:rPr lang="en-GB">
                <a:latin typeface="Calibri" panose="020F0502020204030204" pitchFamily="34" charset="0"/>
                <a:cs typeface="Calibri" panose="020F0502020204030204" pitchFamily="34" charset="0"/>
              </a:rPr>
              <a:t>CO</a:t>
            </a:r>
            <a:r>
              <a:rPr lang="en-GB" baseline="-25000">
                <a:latin typeface="Calibri" panose="020F0502020204030204" pitchFamily="34" charset="0"/>
                <a:cs typeface="Calibri" panose="020F0502020204030204" pitchFamily="34" charset="0"/>
              </a:rPr>
              <a:t>2</a:t>
            </a:r>
          </a:p>
        </p:txBody>
      </p:sp>
      <p:sp>
        <p:nvSpPr>
          <p:cNvPr id="71" name="TextBox 70">
            <a:extLst>
              <a:ext uri="{FF2B5EF4-FFF2-40B4-BE49-F238E27FC236}">
                <a16:creationId xmlns:a16="http://schemas.microsoft.com/office/drawing/2014/main" id="{1F6A9372-8F77-409D-AE49-2C634DD76184}"/>
              </a:ext>
            </a:extLst>
          </p:cNvPr>
          <p:cNvSpPr txBox="1"/>
          <p:nvPr/>
        </p:nvSpPr>
        <p:spPr>
          <a:xfrm>
            <a:off x="7475026" y="2568362"/>
            <a:ext cx="750077"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CO</a:t>
            </a:r>
            <a:r>
              <a:rPr lang="en-GB" baseline="-25000">
                <a:latin typeface="Calibri" panose="020F0502020204030204" pitchFamily="34" charset="0"/>
                <a:cs typeface="Calibri" panose="020F0502020204030204" pitchFamily="34" charset="0"/>
              </a:rPr>
              <a:t>2out</a:t>
            </a:r>
            <a:endParaRPr lang="en-GB">
              <a:latin typeface="Calibri" panose="020F0502020204030204" pitchFamily="34" charset="0"/>
              <a:cs typeface="Calibri" panose="020F0502020204030204" pitchFamily="34" charset="0"/>
            </a:endParaRPr>
          </a:p>
        </p:txBody>
      </p:sp>
      <p:cxnSp>
        <p:nvCxnSpPr>
          <p:cNvPr id="72" name="Straight Arrow Connector 71">
            <a:extLst>
              <a:ext uri="{FF2B5EF4-FFF2-40B4-BE49-F238E27FC236}">
                <a16:creationId xmlns:a16="http://schemas.microsoft.com/office/drawing/2014/main" id="{8A4F5B91-54CD-40D6-8F09-5E48DDBD17A7}"/>
              </a:ext>
            </a:extLst>
          </p:cNvPr>
          <p:cNvCxnSpPr>
            <a:cxnSpLocks/>
          </p:cNvCxnSpPr>
          <p:nvPr/>
        </p:nvCxnSpPr>
        <p:spPr>
          <a:xfrm>
            <a:off x="7091446" y="2753028"/>
            <a:ext cx="3799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80698E13-38C6-4A75-A581-6191E3FF969F}"/>
              </a:ext>
            </a:extLst>
          </p:cNvPr>
          <p:cNvSpPr txBox="1"/>
          <p:nvPr/>
        </p:nvSpPr>
        <p:spPr>
          <a:xfrm>
            <a:off x="6679618" y="2204086"/>
            <a:ext cx="415498" cy="369332"/>
          </a:xfrm>
          <a:prstGeom prst="rect">
            <a:avLst/>
          </a:prstGeom>
          <a:noFill/>
        </p:spPr>
        <p:txBody>
          <a:bodyPr wrap="none" rtlCol="0">
            <a:spAutoFit/>
          </a:bodyPr>
          <a:lstStyle/>
          <a:p>
            <a:pPr algn="r"/>
            <a:r>
              <a:rPr lang="en-GB">
                <a:latin typeface="Calibri" panose="020F0502020204030204" pitchFamily="34" charset="0"/>
                <a:cs typeface="Calibri" panose="020F0502020204030204" pitchFamily="34" charset="0"/>
              </a:rPr>
              <a:t>O</a:t>
            </a:r>
            <a:r>
              <a:rPr lang="en-GB" baseline="-25000">
                <a:latin typeface="Calibri" panose="020F0502020204030204" pitchFamily="34" charset="0"/>
                <a:cs typeface="Calibri" panose="020F0502020204030204" pitchFamily="34" charset="0"/>
              </a:rPr>
              <a:t>2</a:t>
            </a:r>
          </a:p>
        </p:txBody>
      </p:sp>
      <p:sp>
        <p:nvSpPr>
          <p:cNvPr id="74" name="TextBox 73">
            <a:extLst>
              <a:ext uri="{FF2B5EF4-FFF2-40B4-BE49-F238E27FC236}">
                <a16:creationId xmlns:a16="http://schemas.microsoft.com/office/drawing/2014/main" id="{BE57C269-D94A-4D9C-8225-E7EA8E3745CC}"/>
              </a:ext>
            </a:extLst>
          </p:cNvPr>
          <p:cNvSpPr txBox="1"/>
          <p:nvPr/>
        </p:nvSpPr>
        <p:spPr>
          <a:xfrm>
            <a:off x="7475026" y="2208849"/>
            <a:ext cx="667170"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O</a:t>
            </a:r>
            <a:r>
              <a:rPr lang="en-GB" baseline="-25000">
                <a:latin typeface="Calibri" panose="020F0502020204030204" pitchFamily="34" charset="0"/>
                <a:cs typeface="Calibri" panose="020F0502020204030204" pitchFamily="34" charset="0"/>
              </a:rPr>
              <a:t>2,out</a:t>
            </a:r>
            <a:endParaRPr lang="en-GB">
              <a:latin typeface="Calibri" panose="020F0502020204030204" pitchFamily="34" charset="0"/>
              <a:cs typeface="Calibri" panose="020F0502020204030204" pitchFamily="34" charset="0"/>
            </a:endParaRPr>
          </a:p>
        </p:txBody>
      </p:sp>
      <p:cxnSp>
        <p:nvCxnSpPr>
          <p:cNvPr id="75" name="Straight Arrow Connector 74">
            <a:extLst>
              <a:ext uri="{FF2B5EF4-FFF2-40B4-BE49-F238E27FC236}">
                <a16:creationId xmlns:a16="http://schemas.microsoft.com/office/drawing/2014/main" id="{8E09D2AA-2666-4FB1-888A-4EC87BD89A07}"/>
              </a:ext>
            </a:extLst>
          </p:cNvPr>
          <p:cNvCxnSpPr>
            <a:cxnSpLocks/>
          </p:cNvCxnSpPr>
          <p:nvPr/>
        </p:nvCxnSpPr>
        <p:spPr>
          <a:xfrm>
            <a:off x="7091446" y="2387249"/>
            <a:ext cx="3799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6" name="TextBox 75">
            <a:extLst>
              <a:ext uri="{FF2B5EF4-FFF2-40B4-BE49-F238E27FC236}">
                <a16:creationId xmlns:a16="http://schemas.microsoft.com/office/drawing/2014/main" id="{35E6A0BD-5927-427A-AF6A-9AFCA7BF02BA}"/>
              </a:ext>
            </a:extLst>
          </p:cNvPr>
          <p:cNvSpPr txBox="1"/>
          <p:nvPr/>
        </p:nvSpPr>
        <p:spPr>
          <a:xfrm>
            <a:off x="1353915" y="1639991"/>
            <a:ext cx="455959"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ATP</a:t>
            </a:r>
          </a:p>
        </p:txBody>
      </p:sp>
      <p:sp>
        <p:nvSpPr>
          <p:cNvPr id="77" name="Arc 76">
            <a:extLst>
              <a:ext uri="{FF2B5EF4-FFF2-40B4-BE49-F238E27FC236}">
                <a16:creationId xmlns:a16="http://schemas.microsoft.com/office/drawing/2014/main" id="{99DE5427-998A-4866-9A65-5314B8550F37}"/>
              </a:ext>
            </a:extLst>
          </p:cNvPr>
          <p:cNvSpPr/>
          <p:nvPr/>
        </p:nvSpPr>
        <p:spPr>
          <a:xfrm>
            <a:off x="1590710" y="1787415"/>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8" name="TextBox 77">
            <a:extLst>
              <a:ext uri="{FF2B5EF4-FFF2-40B4-BE49-F238E27FC236}">
                <a16:creationId xmlns:a16="http://schemas.microsoft.com/office/drawing/2014/main" id="{A188F42F-F6F4-4095-8C6F-BD35194B7C98}"/>
              </a:ext>
            </a:extLst>
          </p:cNvPr>
          <p:cNvSpPr txBox="1"/>
          <p:nvPr/>
        </p:nvSpPr>
        <p:spPr>
          <a:xfrm>
            <a:off x="1353915" y="3251315"/>
            <a:ext cx="455959"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ATP</a:t>
            </a:r>
          </a:p>
        </p:txBody>
      </p:sp>
      <p:sp>
        <p:nvSpPr>
          <p:cNvPr id="79" name="Arc 78">
            <a:extLst>
              <a:ext uri="{FF2B5EF4-FFF2-40B4-BE49-F238E27FC236}">
                <a16:creationId xmlns:a16="http://schemas.microsoft.com/office/drawing/2014/main" id="{F6D8FFCA-3753-49B6-B222-A5BD1B141EA2}"/>
              </a:ext>
            </a:extLst>
          </p:cNvPr>
          <p:cNvSpPr/>
          <p:nvPr/>
        </p:nvSpPr>
        <p:spPr>
          <a:xfrm>
            <a:off x="1590710" y="3398739"/>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0" name="TextBox 79">
            <a:extLst>
              <a:ext uri="{FF2B5EF4-FFF2-40B4-BE49-F238E27FC236}">
                <a16:creationId xmlns:a16="http://schemas.microsoft.com/office/drawing/2014/main" id="{D42C2E02-32AD-4B70-8C06-CEB0634C9E48}"/>
              </a:ext>
            </a:extLst>
          </p:cNvPr>
          <p:cNvSpPr txBox="1"/>
          <p:nvPr/>
        </p:nvSpPr>
        <p:spPr>
          <a:xfrm>
            <a:off x="610924" y="4364144"/>
            <a:ext cx="1199752"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2 ATP + NADH</a:t>
            </a:r>
          </a:p>
        </p:txBody>
      </p:sp>
      <p:sp>
        <p:nvSpPr>
          <p:cNvPr id="81" name="Arc 80">
            <a:extLst>
              <a:ext uri="{FF2B5EF4-FFF2-40B4-BE49-F238E27FC236}">
                <a16:creationId xmlns:a16="http://schemas.microsoft.com/office/drawing/2014/main" id="{35675D37-5EB6-4E5D-B95F-4C90A6BE0AC2}"/>
              </a:ext>
            </a:extLst>
          </p:cNvPr>
          <p:cNvSpPr/>
          <p:nvPr/>
        </p:nvSpPr>
        <p:spPr>
          <a:xfrm>
            <a:off x="1590710" y="4278853"/>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2" name="Arc 81">
            <a:extLst>
              <a:ext uri="{FF2B5EF4-FFF2-40B4-BE49-F238E27FC236}">
                <a16:creationId xmlns:a16="http://schemas.microsoft.com/office/drawing/2014/main" id="{EC7CBB41-72F6-4FFA-A0A7-ACD8B40018C5}"/>
              </a:ext>
            </a:extLst>
          </p:cNvPr>
          <p:cNvSpPr/>
          <p:nvPr/>
        </p:nvSpPr>
        <p:spPr>
          <a:xfrm rot="16200000" flipH="1">
            <a:off x="2385536" y="2037254"/>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3" name="TextBox 82">
            <a:extLst>
              <a:ext uri="{FF2B5EF4-FFF2-40B4-BE49-F238E27FC236}">
                <a16:creationId xmlns:a16="http://schemas.microsoft.com/office/drawing/2014/main" id="{4F0AFC83-ACB2-419B-A009-BFA738105890}"/>
              </a:ext>
            </a:extLst>
          </p:cNvPr>
          <p:cNvSpPr txBox="1"/>
          <p:nvPr/>
        </p:nvSpPr>
        <p:spPr>
          <a:xfrm>
            <a:off x="2575537" y="1877662"/>
            <a:ext cx="1326004"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2 NADPH + CO</a:t>
            </a:r>
            <a:r>
              <a:rPr lang="en-GB" sz="1400" baseline="-25000">
                <a:latin typeface="Calibri" panose="020F0502020204030204" pitchFamily="34" charset="0"/>
                <a:cs typeface="Calibri" panose="020F0502020204030204" pitchFamily="34" charset="0"/>
              </a:rPr>
              <a:t>2</a:t>
            </a:r>
          </a:p>
        </p:txBody>
      </p:sp>
      <p:sp>
        <p:nvSpPr>
          <p:cNvPr id="86" name="TextBox 85">
            <a:extLst>
              <a:ext uri="{FF2B5EF4-FFF2-40B4-BE49-F238E27FC236}">
                <a16:creationId xmlns:a16="http://schemas.microsoft.com/office/drawing/2014/main" id="{0CF86C06-9247-44DA-9D8A-72639D0BB848}"/>
              </a:ext>
            </a:extLst>
          </p:cNvPr>
          <p:cNvSpPr txBox="1"/>
          <p:nvPr/>
        </p:nvSpPr>
        <p:spPr>
          <a:xfrm>
            <a:off x="2697866" y="4945113"/>
            <a:ext cx="627095"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NADH</a:t>
            </a:r>
          </a:p>
        </p:txBody>
      </p:sp>
      <p:sp>
        <p:nvSpPr>
          <p:cNvPr id="87" name="Arc 86">
            <a:extLst>
              <a:ext uri="{FF2B5EF4-FFF2-40B4-BE49-F238E27FC236}">
                <a16:creationId xmlns:a16="http://schemas.microsoft.com/office/drawing/2014/main" id="{2D989AA6-7B88-4B96-8CE7-31C2F732A05B}"/>
              </a:ext>
            </a:extLst>
          </p:cNvPr>
          <p:cNvSpPr/>
          <p:nvPr/>
        </p:nvSpPr>
        <p:spPr>
          <a:xfrm>
            <a:off x="3124577" y="5099002"/>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8" name="Arc 87">
            <a:extLst>
              <a:ext uri="{FF2B5EF4-FFF2-40B4-BE49-F238E27FC236}">
                <a16:creationId xmlns:a16="http://schemas.microsoft.com/office/drawing/2014/main" id="{6152A631-7472-4866-A33B-60524B115969}"/>
              </a:ext>
            </a:extLst>
          </p:cNvPr>
          <p:cNvSpPr/>
          <p:nvPr/>
        </p:nvSpPr>
        <p:spPr>
          <a:xfrm rot="16200000" flipH="1">
            <a:off x="2398630" y="4521100"/>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9" name="TextBox 88">
            <a:extLst>
              <a:ext uri="{FF2B5EF4-FFF2-40B4-BE49-F238E27FC236}">
                <a16:creationId xmlns:a16="http://schemas.microsoft.com/office/drawing/2014/main" id="{9E473A88-E403-41A9-A082-15424607B486}"/>
              </a:ext>
            </a:extLst>
          </p:cNvPr>
          <p:cNvSpPr txBox="1"/>
          <p:nvPr/>
        </p:nvSpPr>
        <p:spPr>
          <a:xfrm>
            <a:off x="2588631" y="4411420"/>
            <a:ext cx="458780"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CO</a:t>
            </a:r>
            <a:r>
              <a:rPr lang="en-GB" sz="1400" baseline="-25000">
                <a:latin typeface="Calibri" panose="020F0502020204030204" pitchFamily="34" charset="0"/>
                <a:cs typeface="Calibri" panose="020F0502020204030204" pitchFamily="34" charset="0"/>
              </a:rPr>
              <a:t>2</a:t>
            </a:r>
          </a:p>
        </p:txBody>
      </p:sp>
      <p:sp>
        <p:nvSpPr>
          <p:cNvPr id="91" name="Arc 90">
            <a:extLst>
              <a:ext uri="{FF2B5EF4-FFF2-40B4-BE49-F238E27FC236}">
                <a16:creationId xmlns:a16="http://schemas.microsoft.com/office/drawing/2014/main" id="{C63BB2E9-8457-47D2-8B13-D28CC615F018}"/>
              </a:ext>
            </a:extLst>
          </p:cNvPr>
          <p:cNvSpPr/>
          <p:nvPr/>
        </p:nvSpPr>
        <p:spPr>
          <a:xfrm rot="16200000" flipH="1">
            <a:off x="4307511" y="4515767"/>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92" name="TextBox 91">
            <a:extLst>
              <a:ext uri="{FF2B5EF4-FFF2-40B4-BE49-F238E27FC236}">
                <a16:creationId xmlns:a16="http://schemas.microsoft.com/office/drawing/2014/main" id="{AC295F34-84BC-4A55-A006-0201FF60E3C7}"/>
              </a:ext>
            </a:extLst>
          </p:cNvPr>
          <p:cNvSpPr txBox="1"/>
          <p:nvPr/>
        </p:nvSpPr>
        <p:spPr>
          <a:xfrm>
            <a:off x="3324961" y="4356175"/>
            <a:ext cx="1332801"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2 ATP + NADPH</a:t>
            </a:r>
            <a:endParaRPr lang="en-GB" sz="1400" baseline="-25000">
              <a:latin typeface="Calibri" panose="020F0502020204030204" pitchFamily="34" charset="0"/>
              <a:cs typeface="Calibri" panose="020F0502020204030204" pitchFamily="34" charset="0"/>
            </a:endParaRPr>
          </a:p>
        </p:txBody>
      </p:sp>
      <p:sp>
        <p:nvSpPr>
          <p:cNvPr id="98" name="TextBox 97">
            <a:extLst>
              <a:ext uri="{FF2B5EF4-FFF2-40B4-BE49-F238E27FC236}">
                <a16:creationId xmlns:a16="http://schemas.microsoft.com/office/drawing/2014/main" id="{5BBA97DD-E1FA-4BFD-AEA2-35C00D8C014E}"/>
              </a:ext>
            </a:extLst>
          </p:cNvPr>
          <p:cNvSpPr txBox="1"/>
          <p:nvPr/>
        </p:nvSpPr>
        <p:spPr>
          <a:xfrm>
            <a:off x="1952365" y="1741625"/>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a:t>
            </a:r>
          </a:p>
        </p:txBody>
      </p:sp>
      <p:sp>
        <p:nvSpPr>
          <p:cNvPr id="101" name="TextBox 100">
            <a:extLst>
              <a:ext uri="{FF2B5EF4-FFF2-40B4-BE49-F238E27FC236}">
                <a16:creationId xmlns:a16="http://schemas.microsoft.com/office/drawing/2014/main" id="{9F874CD0-104F-4600-8915-84A7B0CA73DC}"/>
              </a:ext>
            </a:extLst>
          </p:cNvPr>
          <p:cNvSpPr txBox="1"/>
          <p:nvPr/>
        </p:nvSpPr>
        <p:spPr>
          <a:xfrm>
            <a:off x="1952365" y="2567000"/>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2</a:t>
            </a:r>
          </a:p>
        </p:txBody>
      </p:sp>
      <p:sp>
        <p:nvSpPr>
          <p:cNvPr id="102" name="TextBox 101">
            <a:extLst>
              <a:ext uri="{FF2B5EF4-FFF2-40B4-BE49-F238E27FC236}">
                <a16:creationId xmlns:a16="http://schemas.microsoft.com/office/drawing/2014/main" id="{2B1ED614-0768-4773-AF35-DB5708F9739E}"/>
              </a:ext>
            </a:extLst>
          </p:cNvPr>
          <p:cNvSpPr txBox="1"/>
          <p:nvPr/>
        </p:nvSpPr>
        <p:spPr>
          <a:xfrm>
            <a:off x="1952365" y="3381119"/>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3</a:t>
            </a:r>
          </a:p>
        </p:txBody>
      </p:sp>
      <p:sp>
        <p:nvSpPr>
          <p:cNvPr id="103" name="TextBox 102">
            <a:extLst>
              <a:ext uri="{FF2B5EF4-FFF2-40B4-BE49-F238E27FC236}">
                <a16:creationId xmlns:a16="http://schemas.microsoft.com/office/drawing/2014/main" id="{25A01819-3807-4899-99B9-2D3951F1B9CB}"/>
              </a:ext>
            </a:extLst>
          </p:cNvPr>
          <p:cNvSpPr txBox="1"/>
          <p:nvPr/>
        </p:nvSpPr>
        <p:spPr>
          <a:xfrm>
            <a:off x="1952365" y="4200809"/>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4</a:t>
            </a:r>
          </a:p>
        </p:txBody>
      </p:sp>
      <p:sp>
        <p:nvSpPr>
          <p:cNvPr id="104" name="TextBox 103">
            <a:extLst>
              <a:ext uri="{FF2B5EF4-FFF2-40B4-BE49-F238E27FC236}">
                <a16:creationId xmlns:a16="http://schemas.microsoft.com/office/drawing/2014/main" id="{641D34CD-FF18-45A7-86D6-1E08A0401D18}"/>
              </a:ext>
            </a:extLst>
          </p:cNvPr>
          <p:cNvSpPr txBox="1"/>
          <p:nvPr/>
        </p:nvSpPr>
        <p:spPr>
          <a:xfrm>
            <a:off x="3133104" y="2339245"/>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5</a:t>
            </a:r>
          </a:p>
        </p:txBody>
      </p:sp>
      <p:sp>
        <p:nvSpPr>
          <p:cNvPr id="105" name="TextBox 104">
            <a:extLst>
              <a:ext uri="{FF2B5EF4-FFF2-40B4-BE49-F238E27FC236}">
                <a16:creationId xmlns:a16="http://schemas.microsoft.com/office/drawing/2014/main" id="{5C51C98F-4831-4158-A775-D66E95CC3ACF}"/>
              </a:ext>
            </a:extLst>
          </p:cNvPr>
          <p:cNvSpPr txBox="1"/>
          <p:nvPr/>
        </p:nvSpPr>
        <p:spPr>
          <a:xfrm>
            <a:off x="3133104" y="3666869"/>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6</a:t>
            </a:r>
          </a:p>
        </p:txBody>
      </p:sp>
      <p:cxnSp>
        <p:nvCxnSpPr>
          <p:cNvPr id="107" name="Straight Arrow Connector 106">
            <a:extLst>
              <a:ext uri="{FF2B5EF4-FFF2-40B4-BE49-F238E27FC236}">
                <a16:creationId xmlns:a16="http://schemas.microsoft.com/office/drawing/2014/main" id="{11CF9AE6-7E6D-4DCB-B2ED-EDA7FA70B443}"/>
              </a:ext>
            </a:extLst>
          </p:cNvPr>
          <p:cNvCxnSpPr>
            <a:stCxn id="9" idx="3"/>
            <a:endCxn id="10" idx="1"/>
          </p:cNvCxnSpPr>
          <p:nvPr/>
        </p:nvCxnSpPr>
        <p:spPr>
          <a:xfrm>
            <a:off x="3895140" y="3097829"/>
            <a:ext cx="3997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8" name="TextBox 107">
            <a:extLst>
              <a:ext uri="{FF2B5EF4-FFF2-40B4-BE49-F238E27FC236}">
                <a16:creationId xmlns:a16="http://schemas.microsoft.com/office/drawing/2014/main" id="{8EB315E8-475E-4F4C-9713-E3EF09DB746C}"/>
              </a:ext>
            </a:extLst>
          </p:cNvPr>
          <p:cNvSpPr txBox="1"/>
          <p:nvPr/>
        </p:nvSpPr>
        <p:spPr>
          <a:xfrm>
            <a:off x="3913904" y="3094225"/>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7</a:t>
            </a:r>
          </a:p>
        </p:txBody>
      </p:sp>
      <p:sp>
        <p:nvSpPr>
          <p:cNvPr id="109" name="TextBox 108">
            <a:extLst>
              <a:ext uri="{FF2B5EF4-FFF2-40B4-BE49-F238E27FC236}">
                <a16:creationId xmlns:a16="http://schemas.microsoft.com/office/drawing/2014/main" id="{0DA81405-FAAC-405B-9F26-DC20EDC440F6}"/>
              </a:ext>
            </a:extLst>
          </p:cNvPr>
          <p:cNvSpPr txBox="1"/>
          <p:nvPr/>
        </p:nvSpPr>
        <p:spPr>
          <a:xfrm>
            <a:off x="4325682" y="2528616"/>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8</a:t>
            </a:r>
          </a:p>
        </p:txBody>
      </p:sp>
      <p:cxnSp>
        <p:nvCxnSpPr>
          <p:cNvPr id="121" name="Straight Arrow Connector 120">
            <a:extLst>
              <a:ext uri="{FF2B5EF4-FFF2-40B4-BE49-F238E27FC236}">
                <a16:creationId xmlns:a16="http://schemas.microsoft.com/office/drawing/2014/main" id="{DFEEA58E-098E-4360-AD14-EB8AA82182BC}"/>
              </a:ext>
            </a:extLst>
          </p:cNvPr>
          <p:cNvCxnSpPr>
            <a:cxnSpLocks/>
          </p:cNvCxnSpPr>
          <p:nvPr/>
        </p:nvCxnSpPr>
        <p:spPr>
          <a:xfrm>
            <a:off x="3424975" y="3282495"/>
            <a:ext cx="0" cy="705459"/>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5" name="Connector: Elbow 124">
            <a:extLst>
              <a:ext uri="{FF2B5EF4-FFF2-40B4-BE49-F238E27FC236}">
                <a16:creationId xmlns:a16="http://schemas.microsoft.com/office/drawing/2014/main" id="{2E7997A3-E9AB-469A-9730-214ACFC39AEE}"/>
              </a:ext>
            </a:extLst>
          </p:cNvPr>
          <p:cNvCxnSpPr>
            <a:cxnSpLocks/>
          </p:cNvCxnSpPr>
          <p:nvPr/>
        </p:nvCxnSpPr>
        <p:spPr>
          <a:xfrm flipH="1">
            <a:off x="2303339" y="3248607"/>
            <a:ext cx="361253" cy="2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4" name="Connector: Elbow 133">
            <a:extLst>
              <a:ext uri="{FF2B5EF4-FFF2-40B4-BE49-F238E27FC236}">
                <a16:creationId xmlns:a16="http://schemas.microsoft.com/office/drawing/2014/main" id="{CD8817F9-9AAA-4FCD-8825-B07D933B34A4}"/>
              </a:ext>
            </a:extLst>
          </p:cNvPr>
          <p:cNvCxnSpPr>
            <a:cxnSpLocks/>
          </p:cNvCxnSpPr>
          <p:nvPr/>
        </p:nvCxnSpPr>
        <p:spPr>
          <a:xfrm rot="16200000" flipH="1">
            <a:off x="1920761" y="3686437"/>
            <a:ext cx="136418" cy="97281"/>
          </a:xfrm>
          <a:prstGeom prst="bentConnector3">
            <a:avLst>
              <a:gd name="adj1" fmla="val 9853"/>
            </a:avLst>
          </a:prstGeom>
          <a:ln>
            <a:tailEnd type="triangle"/>
          </a:ln>
        </p:spPr>
        <p:style>
          <a:lnRef idx="2">
            <a:schemeClr val="accent1"/>
          </a:lnRef>
          <a:fillRef idx="0">
            <a:schemeClr val="accent1"/>
          </a:fillRef>
          <a:effectRef idx="1">
            <a:schemeClr val="accent1"/>
          </a:effectRef>
          <a:fontRef idx="minor">
            <a:schemeClr val="tx1"/>
          </a:fontRef>
        </p:style>
      </p:cxnSp>
      <p:sp>
        <p:nvSpPr>
          <p:cNvPr id="144" name="TextBox 143">
            <a:extLst>
              <a:ext uri="{FF2B5EF4-FFF2-40B4-BE49-F238E27FC236}">
                <a16:creationId xmlns:a16="http://schemas.microsoft.com/office/drawing/2014/main" id="{0CC8F15C-DC6D-4F3B-B83D-6B0E123B783B}"/>
              </a:ext>
            </a:extLst>
          </p:cNvPr>
          <p:cNvSpPr txBox="1"/>
          <p:nvPr/>
        </p:nvSpPr>
        <p:spPr>
          <a:xfrm>
            <a:off x="1105694" y="4628675"/>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9</a:t>
            </a:r>
          </a:p>
        </p:txBody>
      </p:sp>
      <p:sp>
        <p:nvSpPr>
          <p:cNvPr id="145" name="TextBox 144">
            <a:extLst>
              <a:ext uri="{FF2B5EF4-FFF2-40B4-BE49-F238E27FC236}">
                <a16:creationId xmlns:a16="http://schemas.microsoft.com/office/drawing/2014/main" id="{FD6FD979-0799-421D-A9B3-03E1B89972D5}"/>
              </a:ext>
            </a:extLst>
          </p:cNvPr>
          <p:cNvSpPr txBox="1"/>
          <p:nvPr/>
        </p:nvSpPr>
        <p:spPr>
          <a:xfrm>
            <a:off x="1580799" y="4996454"/>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10</a:t>
            </a:r>
          </a:p>
        </p:txBody>
      </p:sp>
      <p:sp>
        <p:nvSpPr>
          <p:cNvPr id="146" name="TextBox 145">
            <a:extLst>
              <a:ext uri="{FF2B5EF4-FFF2-40B4-BE49-F238E27FC236}">
                <a16:creationId xmlns:a16="http://schemas.microsoft.com/office/drawing/2014/main" id="{5C53EDA4-B5BF-4C77-81A1-0197203B50BA}"/>
              </a:ext>
            </a:extLst>
          </p:cNvPr>
          <p:cNvSpPr txBox="1"/>
          <p:nvPr/>
        </p:nvSpPr>
        <p:spPr>
          <a:xfrm>
            <a:off x="2395309" y="4800571"/>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11</a:t>
            </a:r>
          </a:p>
        </p:txBody>
      </p:sp>
      <p:sp>
        <p:nvSpPr>
          <p:cNvPr id="148" name="TextBox 147">
            <a:extLst>
              <a:ext uri="{FF2B5EF4-FFF2-40B4-BE49-F238E27FC236}">
                <a16:creationId xmlns:a16="http://schemas.microsoft.com/office/drawing/2014/main" id="{D4AE642A-6B6B-4614-A7FB-9B87734D255A}"/>
              </a:ext>
            </a:extLst>
          </p:cNvPr>
          <p:cNvSpPr txBox="1"/>
          <p:nvPr/>
        </p:nvSpPr>
        <p:spPr>
          <a:xfrm>
            <a:off x="4275001" y="4800571"/>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13</a:t>
            </a:r>
          </a:p>
        </p:txBody>
      </p:sp>
      <p:sp>
        <p:nvSpPr>
          <p:cNvPr id="149" name="TextBox 148">
            <a:extLst>
              <a:ext uri="{FF2B5EF4-FFF2-40B4-BE49-F238E27FC236}">
                <a16:creationId xmlns:a16="http://schemas.microsoft.com/office/drawing/2014/main" id="{DF3771DF-DA6D-4EB7-91B8-31EB7A1E0602}"/>
              </a:ext>
            </a:extLst>
          </p:cNvPr>
          <p:cNvSpPr txBox="1"/>
          <p:nvPr/>
        </p:nvSpPr>
        <p:spPr>
          <a:xfrm>
            <a:off x="3474263" y="5055454"/>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12</a:t>
            </a:r>
          </a:p>
        </p:txBody>
      </p:sp>
      <p:sp>
        <p:nvSpPr>
          <p:cNvPr id="150" name="TextBox 149">
            <a:extLst>
              <a:ext uri="{FF2B5EF4-FFF2-40B4-BE49-F238E27FC236}">
                <a16:creationId xmlns:a16="http://schemas.microsoft.com/office/drawing/2014/main" id="{BCF80FF0-8B2A-49E2-ABDD-C37AC9D222D5}"/>
              </a:ext>
            </a:extLst>
          </p:cNvPr>
          <p:cNvSpPr txBox="1"/>
          <p:nvPr/>
        </p:nvSpPr>
        <p:spPr>
          <a:xfrm>
            <a:off x="7084712" y="1341921"/>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14</a:t>
            </a:r>
          </a:p>
        </p:txBody>
      </p:sp>
      <p:sp>
        <p:nvSpPr>
          <p:cNvPr id="151" name="TextBox 150">
            <a:extLst>
              <a:ext uri="{FF2B5EF4-FFF2-40B4-BE49-F238E27FC236}">
                <a16:creationId xmlns:a16="http://schemas.microsoft.com/office/drawing/2014/main" id="{F9706A43-DEC1-481A-872B-2D9A15BD120E}"/>
              </a:ext>
            </a:extLst>
          </p:cNvPr>
          <p:cNvSpPr txBox="1"/>
          <p:nvPr/>
        </p:nvSpPr>
        <p:spPr>
          <a:xfrm>
            <a:off x="7084712" y="1716301"/>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15</a:t>
            </a:r>
          </a:p>
        </p:txBody>
      </p:sp>
      <p:sp>
        <p:nvSpPr>
          <p:cNvPr id="152" name="TextBox 151">
            <a:extLst>
              <a:ext uri="{FF2B5EF4-FFF2-40B4-BE49-F238E27FC236}">
                <a16:creationId xmlns:a16="http://schemas.microsoft.com/office/drawing/2014/main" id="{D97ADA66-3B31-43CE-8B25-A9BC07FD360D}"/>
              </a:ext>
            </a:extLst>
          </p:cNvPr>
          <p:cNvSpPr txBox="1"/>
          <p:nvPr/>
        </p:nvSpPr>
        <p:spPr>
          <a:xfrm>
            <a:off x="7084712" y="2079472"/>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16</a:t>
            </a:r>
          </a:p>
        </p:txBody>
      </p:sp>
      <p:sp>
        <p:nvSpPr>
          <p:cNvPr id="153" name="TextBox 152">
            <a:extLst>
              <a:ext uri="{FF2B5EF4-FFF2-40B4-BE49-F238E27FC236}">
                <a16:creationId xmlns:a16="http://schemas.microsoft.com/office/drawing/2014/main" id="{8FD6F38F-6681-4AF0-8110-6612B47D2A20}"/>
              </a:ext>
            </a:extLst>
          </p:cNvPr>
          <p:cNvSpPr txBox="1"/>
          <p:nvPr/>
        </p:nvSpPr>
        <p:spPr>
          <a:xfrm>
            <a:off x="7084712" y="2453292"/>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17</a:t>
            </a:r>
          </a:p>
        </p:txBody>
      </p:sp>
      <p:sp>
        <p:nvSpPr>
          <p:cNvPr id="154" name="TextBox 153">
            <a:extLst>
              <a:ext uri="{FF2B5EF4-FFF2-40B4-BE49-F238E27FC236}">
                <a16:creationId xmlns:a16="http://schemas.microsoft.com/office/drawing/2014/main" id="{F5F1D7AB-5654-4C6C-9513-7A1079B5D170}"/>
              </a:ext>
            </a:extLst>
          </p:cNvPr>
          <p:cNvSpPr txBox="1"/>
          <p:nvPr/>
        </p:nvSpPr>
        <p:spPr>
          <a:xfrm>
            <a:off x="7084712" y="3501118"/>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18</a:t>
            </a:r>
          </a:p>
        </p:txBody>
      </p:sp>
    </p:spTree>
    <p:extLst>
      <p:ext uri="{BB962C8B-B14F-4D97-AF65-F5344CB8AC3E}">
        <p14:creationId xmlns:p14="http://schemas.microsoft.com/office/powerpoint/2010/main" val="1816301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0A806B-AFFB-4FC8-9EE5-66FE673715CD}"/>
              </a:ext>
            </a:extLst>
          </p:cNvPr>
          <p:cNvSpPr>
            <a:spLocks noGrp="1"/>
          </p:cNvSpPr>
          <p:nvPr>
            <p:ph idx="1"/>
          </p:nvPr>
        </p:nvSpPr>
        <p:spPr/>
        <p:txBody>
          <a:bodyPr/>
          <a:lstStyle/>
          <a:p>
            <a:r>
              <a:rPr lang="en-GB" sz="2000"/>
              <a:t>Split </a:t>
            </a:r>
            <a:r>
              <a:rPr lang="en-GB" sz="2000" b="1"/>
              <a:t>S</a:t>
            </a:r>
            <a:r>
              <a:rPr lang="en-GB" sz="2000"/>
              <a:t>-matrix in </a:t>
            </a:r>
            <a:r>
              <a:rPr lang="en-GB" sz="2000" b="1"/>
              <a:t>S</a:t>
            </a:r>
            <a:r>
              <a:rPr lang="en-GB" sz="2000" i="1" baseline="-25000"/>
              <a:t>in</a:t>
            </a:r>
            <a:r>
              <a:rPr lang="en-GB" sz="2000"/>
              <a:t> and </a:t>
            </a:r>
            <a:r>
              <a:rPr lang="en-GB" sz="2000" b="1"/>
              <a:t>S</a:t>
            </a:r>
            <a:r>
              <a:rPr lang="en-GB" sz="2000" i="1" baseline="-25000"/>
              <a:t>ex</a:t>
            </a:r>
          </a:p>
          <a:p>
            <a:r>
              <a:rPr lang="en-GB" sz="2000"/>
              <a:t>Split </a:t>
            </a:r>
            <a:r>
              <a:rPr lang="en-GB" sz="2000" b="1"/>
              <a:t>S</a:t>
            </a:r>
            <a:r>
              <a:rPr lang="en-GB" sz="2000" i="1" baseline="-25000"/>
              <a:t>in</a:t>
            </a:r>
            <a:r>
              <a:rPr lang="en-GB" sz="2000"/>
              <a:t> in </a:t>
            </a:r>
            <a:r>
              <a:rPr lang="en-GB" sz="2000" b="1"/>
              <a:t>S</a:t>
            </a:r>
            <a:r>
              <a:rPr lang="en-GB" sz="2000" i="1" baseline="-25000"/>
              <a:t>in,cal</a:t>
            </a:r>
            <a:r>
              <a:rPr lang="en-GB" sz="2000"/>
              <a:t> and </a:t>
            </a:r>
            <a:r>
              <a:rPr lang="en-GB" sz="2000" b="1"/>
              <a:t>S</a:t>
            </a:r>
            <a:r>
              <a:rPr lang="en-GB" sz="2000" i="1" baseline="-25000"/>
              <a:t>in,meas</a:t>
            </a:r>
          </a:p>
          <a:p>
            <a:pPr marL="0" indent="0">
              <a:buNone/>
            </a:pPr>
            <a:endParaRPr lang="en-GB" sz="2000"/>
          </a:p>
          <a:p>
            <a:pPr marL="0" indent="0">
              <a:buNone/>
            </a:pPr>
            <a:r>
              <a:rPr lang="en-GB" sz="2000"/>
              <a:t>In MATLAB, multiple rows and columns are selected as:</a:t>
            </a:r>
          </a:p>
          <a:p>
            <a:r>
              <a:rPr lang="en-GB" sz="2000"/>
              <a:t>S(firstRow : lastRow, firstColumn : lastColumn)</a:t>
            </a:r>
          </a:p>
          <a:p>
            <a:pPr lvl="1"/>
            <a:r>
              <a:rPr lang="en-GB" sz="1800"/>
              <a:t>Example: </a:t>
            </a:r>
            <a:r>
              <a:rPr lang="en-GB" sz="1800">
                <a:highlight>
                  <a:srgbClr val="C0C0C0"/>
                </a:highlight>
                <a:latin typeface="Lucida Console" panose="020B0609040504020204" pitchFamily="49" charset="0"/>
              </a:rPr>
              <a:t>S(2:3, 2:6)</a:t>
            </a:r>
            <a:r>
              <a:rPr lang="en-GB" sz="1800"/>
              <a:t> selects row 2 to 3 and columns 2 to 6</a:t>
            </a:r>
            <a:endParaRPr lang="en-GB" sz="1800">
              <a:latin typeface="Lucida Console" panose="020B0609040504020204" pitchFamily="49" charset="0"/>
            </a:endParaRPr>
          </a:p>
          <a:p>
            <a:r>
              <a:rPr lang="en-GB" sz="2000"/>
              <a:t>To select </a:t>
            </a:r>
            <a:r>
              <a:rPr lang="en-GB" sz="2000" i="1"/>
              <a:t>all</a:t>
            </a:r>
            <a:r>
              <a:rPr lang="en-GB" sz="2000"/>
              <a:t> rows or columns, writing only ‘:’ is sufficient:</a:t>
            </a:r>
          </a:p>
          <a:p>
            <a:pPr lvl="1"/>
            <a:r>
              <a:rPr lang="en-GB" sz="1800"/>
              <a:t>Example: </a:t>
            </a:r>
            <a:r>
              <a:rPr lang="en-GB" sz="1800">
                <a:highlight>
                  <a:srgbClr val="C0C0C0"/>
                </a:highlight>
                <a:latin typeface="Lucida Console" panose="020B0609040504020204" pitchFamily="49" charset="0"/>
              </a:rPr>
              <a:t>S(:, 6)</a:t>
            </a:r>
            <a:r>
              <a:rPr lang="en-GB" sz="1800"/>
              <a:t> selects the whole column 6 (all rows)</a:t>
            </a:r>
          </a:p>
          <a:p>
            <a:r>
              <a:rPr lang="en-GB" sz="2000"/>
              <a:t>To select a subset of rows or columns, use square brackets:</a:t>
            </a:r>
          </a:p>
          <a:p>
            <a:pPr lvl="1"/>
            <a:r>
              <a:rPr lang="en-GB" sz="1800"/>
              <a:t>Example: </a:t>
            </a:r>
            <a:r>
              <a:rPr lang="en-GB" sz="1800">
                <a:highlight>
                  <a:srgbClr val="C0C0C0"/>
                </a:highlight>
                <a:latin typeface="Lucida Console" panose="020B0609040504020204" pitchFamily="49" charset="0"/>
              </a:rPr>
              <a:t>S([2,5,8], :)</a:t>
            </a:r>
            <a:r>
              <a:rPr lang="en-GB" sz="1800"/>
              <a:t> selects the complete rows 2, 5 and 8 (all columns)</a:t>
            </a:r>
          </a:p>
          <a:p>
            <a:r>
              <a:rPr lang="en-GB" sz="2000"/>
              <a:t>To select until the last rows or columns, use ‘end’:</a:t>
            </a:r>
          </a:p>
          <a:p>
            <a:pPr lvl="1"/>
            <a:r>
              <a:rPr lang="en-GB" sz="1800"/>
              <a:t>Example: </a:t>
            </a:r>
            <a:r>
              <a:rPr lang="en-GB" sz="1800">
                <a:highlight>
                  <a:srgbClr val="C0C0C0"/>
                </a:highlight>
                <a:latin typeface="Lucida Console" panose="020B0609040504020204" pitchFamily="49" charset="0"/>
              </a:rPr>
              <a:t>S(2:3, 2:end)</a:t>
            </a:r>
            <a:r>
              <a:rPr lang="en-GB" sz="1800"/>
              <a:t> selects row 2:3 and all columns except column 1</a:t>
            </a:r>
            <a:endParaRPr lang="en-GB" sz="1800" i="1"/>
          </a:p>
          <a:p>
            <a:r>
              <a:rPr lang="en-GB" sz="2000"/>
              <a:t>To make a new matrix with selected rows and columns:</a:t>
            </a:r>
          </a:p>
          <a:p>
            <a:pPr lvl="1"/>
            <a:r>
              <a:rPr lang="en-GB" sz="1800"/>
              <a:t>Example: </a:t>
            </a:r>
            <a:r>
              <a:rPr lang="en-GB" sz="1800">
                <a:highlight>
                  <a:srgbClr val="C0C0C0"/>
                </a:highlight>
                <a:latin typeface="Lucida Console" panose="020B0609040504020204" pitchFamily="49" charset="0"/>
              </a:rPr>
              <a:t>Sincal = Sin(:, [1,5,6])</a:t>
            </a:r>
            <a:r>
              <a:rPr lang="en-GB" sz="1800"/>
              <a:t> selects columns 1, 5 and 6 from </a:t>
            </a:r>
            <a:r>
              <a:rPr lang="en-GB" sz="1800" b="1"/>
              <a:t>S</a:t>
            </a:r>
            <a:r>
              <a:rPr lang="en-GB" sz="1800" i="1" baseline="-25000"/>
              <a:t>in</a:t>
            </a:r>
            <a:r>
              <a:rPr lang="en-GB" sz="1800"/>
              <a:t> to generate </a:t>
            </a:r>
            <a:r>
              <a:rPr lang="en-GB" sz="1800" b="1"/>
              <a:t>S</a:t>
            </a:r>
            <a:r>
              <a:rPr lang="en-GB" sz="1800" i="1" baseline="-25000"/>
              <a:t>in,cal</a:t>
            </a:r>
            <a:r>
              <a:rPr lang="en-GB" sz="1800"/>
              <a:t> (note that </a:t>
            </a:r>
            <a:r>
              <a:rPr lang="en-GB" sz="1800" b="1"/>
              <a:t>S</a:t>
            </a:r>
            <a:r>
              <a:rPr lang="en-GB" sz="1800" i="1" baseline="-25000"/>
              <a:t>in</a:t>
            </a:r>
            <a:r>
              <a:rPr lang="en-GB" sz="1800"/>
              <a:t> remains unchanged)</a:t>
            </a:r>
            <a:endParaRPr lang="en-GB" sz="1800" i="1"/>
          </a:p>
        </p:txBody>
      </p:sp>
      <p:sp>
        <p:nvSpPr>
          <p:cNvPr id="3" name="Title 2">
            <a:extLst>
              <a:ext uri="{FF2B5EF4-FFF2-40B4-BE49-F238E27FC236}">
                <a16:creationId xmlns:a16="http://schemas.microsoft.com/office/drawing/2014/main" id="{16BB7A54-8CBC-47FB-9342-B5FBE11E8FFF}"/>
              </a:ext>
            </a:extLst>
          </p:cNvPr>
          <p:cNvSpPr>
            <a:spLocks noGrp="1"/>
          </p:cNvSpPr>
          <p:nvPr>
            <p:ph type="title"/>
          </p:nvPr>
        </p:nvSpPr>
        <p:spPr/>
        <p:txBody>
          <a:bodyPr/>
          <a:lstStyle/>
          <a:p>
            <a:r>
              <a:rPr lang="en-GB"/>
              <a:t>Matrix permutations in Matlab</a:t>
            </a:r>
          </a:p>
        </p:txBody>
      </p:sp>
      <p:graphicFrame>
        <p:nvGraphicFramePr>
          <p:cNvPr id="4" name="Object 3">
            <a:extLst>
              <a:ext uri="{FF2B5EF4-FFF2-40B4-BE49-F238E27FC236}">
                <a16:creationId xmlns:a16="http://schemas.microsoft.com/office/drawing/2014/main" id="{5902B192-61B0-47C3-908D-E3F01B5C52A1}"/>
              </a:ext>
            </a:extLst>
          </p:cNvPr>
          <p:cNvGraphicFramePr>
            <a:graphicFrameLocks noChangeAspect="1"/>
          </p:cNvGraphicFramePr>
          <p:nvPr>
            <p:extLst>
              <p:ext uri="{D42A27DB-BD31-4B8C-83A1-F6EECF244321}">
                <p14:modId xmlns:p14="http://schemas.microsoft.com/office/powerpoint/2010/main" val="2714282245"/>
              </p:ext>
            </p:extLst>
          </p:nvPr>
        </p:nvGraphicFramePr>
        <p:xfrm>
          <a:off x="4572000" y="840258"/>
          <a:ext cx="4067030" cy="882822"/>
        </p:xfrm>
        <a:graphic>
          <a:graphicData uri="http://schemas.openxmlformats.org/presentationml/2006/ole">
            <mc:AlternateContent xmlns:mc="http://schemas.openxmlformats.org/markup-compatibility/2006">
              <mc:Choice xmlns:v="urn:schemas-microsoft-com:vml" Requires="v">
                <p:oleObj spid="_x0000_s2054" name="Equation" r:id="rId3" imgW="2222500" imgH="482600" progId="Equation.3">
                  <p:embed/>
                </p:oleObj>
              </mc:Choice>
              <mc:Fallback>
                <p:oleObj name="Equation" r:id="rId3" imgW="2222500" imgH="482600" progId="Equation.3">
                  <p:embed/>
                  <p:pic>
                    <p:nvPicPr>
                      <p:cNvPr id="6" name="Object 5">
                        <a:extLst>
                          <a:ext uri="{FF2B5EF4-FFF2-40B4-BE49-F238E27FC236}">
                            <a16:creationId xmlns:a16="http://schemas.microsoft.com/office/drawing/2014/main" id="{C5F53943-4CAD-474D-A445-A8B39C3D2C64}"/>
                          </a:ext>
                        </a:extLst>
                      </p:cNvPr>
                      <p:cNvPicPr>
                        <a:picLocks noChangeAspect="1" noChangeArrowheads="1"/>
                      </p:cNvPicPr>
                      <p:nvPr/>
                    </p:nvPicPr>
                    <p:blipFill>
                      <a:blip r:embed="rId4"/>
                      <a:srcRect/>
                      <a:stretch>
                        <a:fillRect/>
                      </a:stretch>
                    </p:blipFill>
                    <p:spPr bwMode="auto">
                      <a:xfrm>
                        <a:off x="4572000" y="840258"/>
                        <a:ext cx="4067030" cy="88282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0934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9ACC7C-2DB0-47BC-982B-59EF2C1324D4}"/>
              </a:ext>
            </a:extLst>
          </p:cNvPr>
          <p:cNvSpPr>
            <a:spLocks noGrp="1"/>
          </p:cNvSpPr>
          <p:nvPr>
            <p:ph idx="1"/>
          </p:nvPr>
        </p:nvSpPr>
        <p:spPr>
          <a:xfrm>
            <a:off x="1895474" y="840258"/>
            <a:ext cx="6988273" cy="5884099"/>
          </a:xfrm>
        </p:spPr>
        <p:txBody>
          <a:bodyPr/>
          <a:lstStyle/>
          <a:p>
            <a:pPr marL="0" indent="0">
              <a:buNone/>
            </a:pPr>
            <a:r>
              <a:rPr lang="en-US" sz="2000">
                <a:latin typeface="Arial"/>
              </a:rPr>
              <a:t>Experimentally metabolites are measured as concentrations, i.e. with units:</a:t>
            </a:r>
          </a:p>
          <a:p>
            <a:r>
              <a:rPr lang="en-US" sz="2000">
                <a:latin typeface="Arial"/>
              </a:rPr>
              <a:t> moles/L (or mmoles/L)</a:t>
            </a:r>
          </a:p>
          <a:p>
            <a:r>
              <a:rPr lang="en-US" sz="2000">
                <a:latin typeface="Arial"/>
              </a:rPr>
              <a:t> g/L (or Kg/m</a:t>
            </a:r>
            <a:r>
              <a:rPr lang="en-US" sz="2000" baseline="30000">
                <a:latin typeface="Arial"/>
              </a:rPr>
              <a:t>3</a:t>
            </a:r>
            <a:r>
              <a:rPr lang="en-US" sz="2000">
                <a:latin typeface="Arial"/>
              </a:rPr>
              <a:t>)</a:t>
            </a:r>
          </a:p>
          <a:p>
            <a:endParaRPr lang="en-US" sz="2000">
              <a:latin typeface="Arial"/>
            </a:endParaRPr>
          </a:p>
          <a:p>
            <a:pPr marL="0" indent="0">
              <a:buNone/>
            </a:pPr>
            <a:r>
              <a:rPr lang="en-US" sz="2000">
                <a:latin typeface="Arial"/>
              </a:rPr>
              <a:t>Over time we measure substrate uptake rates, e.g. glucose uptake rate, as </a:t>
            </a:r>
            <a:r>
              <a:rPr lang="en-US" sz="2000" b="1">
                <a:latin typeface="Arial"/>
              </a:rPr>
              <a:t>volumetric rates</a:t>
            </a:r>
            <a:r>
              <a:rPr lang="en-US" sz="2000">
                <a:latin typeface="Arial"/>
              </a:rPr>
              <a:t>, i.e. with units:</a:t>
            </a:r>
          </a:p>
          <a:p>
            <a:r>
              <a:rPr lang="en-US" sz="2000">
                <a:latin typeface="Arial"/>
              </a:rPr>
              <a:t> moles/L/h (or mmoles/L/h)</a:t>
            </a:r>
          </a:p>
          <a:p>
            <a:r>
              <a:rPr lang="en-US" sz="2000">
                <a:latin typeface="Arial"/>
              </a:rPr>
              <a:t> g/L/h (or Kg/m</a:t>
            </a:r>
            <a:r>
              <a:rPr lang="en-US" sz="2000" baseline="30000">
                <a:latin typeface="Arial"/>
              </a:rPr>
              <a:t>3</a:t>
            </a:r>
            <a:r>
              <a:rPr lang="en-US" sz="2000">
                <a:latin typeface="Arial"/>
              </a:rPr>
              <a:t>/h)</a:t>
            </a:r>
          </a:p>
          <a:p>
            <a:endParaRPr lang="en-GB" sz="2000"/>
          </a:p>
        </p:txBody>
      </p:sp>
      <p:pic>
        <p:nvPicPr>
          <p:cNvPr id="7" name="Picture 6"/>
          <p:cNvPicPr>
            <a:picLocks noChangeAspect="1"/>
          </p:cNvPicPr>
          <p:nvPr/>
        </p:nvPicPr>
        <p:blipFill>
          <a:blip r:embed="rId2"/>
          <a:stretch>
            <a:fillRect/>
          </a:stretch>
        </p:blipFill>
        <p:spPr>
          <a:xfrm>
            <a:off x="685800" y="1295400"/>
            <a:ext cx="1066800" cy="1905000"/>
          </a:xfrm>
          <a:prstGeom prst="rect">
            <a:avLst/>
          </a:prstGeom>
        </p:spPr>
      </p:pic>
      <p:pic>
        <p:nvPicPr>
          <p:cNvPr id="8" name="Picture 7"/>
          <p:cNvPicPr>
            <a:picLocks noChangeAspect="1"/>
          </p:cNvPicPr>
          <p:nvPr/>
        </p:nvPicPr>
        <p:blipFill>
          <a:blip r:embed="rId3"/>
          <a:stretch>
            <a:fillRect/>
          </a:stretch>
        </p:blipFill>
        <p:spPr>
          <a:xfrm>
            <a:off x="25400" y="3429000"/>
            <a:ext cx="1651000" cy="1448519"/>
          </a:xfrm>
          <a:prstGeom prst="rect">
            <a:avLst/>
          </a:prstGeom>
        </p:spPr>
      </p:pic>
      <p:sp>
        <p:nvSpPr>
          <p:cNvPr id="10" name="Oval 9"/>
          <p:cNvSpPr/>
          <p:nvPr/>
        </p:nvSpPr>
        <p:spPr bwMode="auto">
          <a:xfrm>
            <a:off x="3276600" y="5486400"/>
            <a:ext cx="1295400" cy="838200"/>
          </a:xfrm>
          <a:prstGeom prst="ellipse">
            <a:avLst/>
          </a:prstGeom>
          <a:solidFill>
            <a:srgbClr val="FFFF00"/>
          </a:solidFill>
          <a:ln w="9525" cap="flat" cmpd="sng" algn="ctr">
            <a:noFill/>
            <a:prstDash val="solid"/>
            <a:round/>
            <a:headEnd type="none" w="med" len="med"/>
            <a:tailEnd type="none" w="med" len="med"/>
          </a:ln>
          <a:effectLst>
            <a:outerShdw blurRad="50800" dist="38100" dir="2700000">
              <a:srgbClr val="000000">
                <a:alpha val="43000"/>
              </a:srgb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5" charset="0"/>
            </a:endParaRPr>
          </a:p>
        </p:txBody>
      </p:sp>
      <p:sp>
        <p:nvSpPr>
          <p:cNvPr id="11" name="Oval 10"/>
          <p:cNvSpPr/>
          <p:nvPr/>
        </p:nvSpPr>
        <p:spPr bwMode="auto">
          <a:xfrm>
            <a:off x="4191000" y="5410200"/>
            <a:ext cx="381000" cy="381000"/>
          </a:xfrm>
          <a:prstGeom prst="ellipse">
            <a:avLst/>
          </a:prstGeom>
          <a:solidFill>
            <a:srgbClr val="FFFF00"/>
          </a:solidFill>
          <a:ln w="9525" cap="flat" cmpd="sng" algn="ctr">
            <a:noFill/>
            <a:prstDash val="solid"/>
            <a:round/>
            <a:headEnd type="none" w="med" len="med"/>
            <a:tailEnd type="none" w="med" len="med"/>
          </a:ln>
          <a:effectLst>
            <a:outerShdw blurRad="50800" dist="38100" dir="2700000">
              <a:srgbClr val="000000">
                <a:alpha val="43000"/>
              </a:srgb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5" charset="0"/>
            </a:endParaRPr>
          </a:p>
        </p:txBody>
      </p:sp>
      <p:cxnSp>
        <p:nvCxnSpPr>
          <p:cNvPr id="13" name="Straight Arrow Connector 12"/>
          <p:cNvCxnSpPr/>
          <p:nvPr/>
        </p:nvCxnSpPr>
        <p:spPr bwMode="auto">
          <a:xfrm>
            <a:off x="2590800" y="5486400"/>
            <a:ext cx="685800" cy="304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5" name="Straight Arrow Connector 14"/>
          <p:cNvCxnSpPr/>
          <p:nvPr/>
        </p:nvCxnSpPr>
        <p:spPr bwMode="auto">
          <a:xfrm flipV="1">
            <a:off x="2590800" y="6019800"/>
            <a:ext cx="685800" cy="304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7" name="Straight Arrow Connector 16"/>
          <p:cNvCxnSpPr/>
          <p:nvPr/>
        </p:nvCxnSpPr>
        <p:spPr bwMode="auto">
          <a:xfrm flipV="1">
            <a:off x="4572000" y="5486400"/>
            <a:ext cx="685800" cy="304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9" name="Straight Arrow Connector 18"/>
          <p:cNvCxnSpPr/>
          <p:nvPr/>
        </p:nvCxnSpPr>
        <p:spPr bwMode="auto">
          <a:xfrm>
            <a:off x="4572000" y="6019800"/>
            <a:ext cx="685800" cy="304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0" name="TextBox 19"/>
          <p:cNvSpPr txBox="1"/>
          <p:nvPr/>
        </p:nvSpPr>
        <p:spPr>
          <a:xfrm>
            <a:off x="1676400" y="5257800"/>
            <a:ext cx="928459" cy="369332"/>
          </a:xfrm>
          <a:prstGeom prst="rect">
            <a:avLst/>
          </a:prstGeom>
          <a:noFill/>
        </p:spPr>
        <p:txBody>
          <a:bodyPr wrap="none" rtlCol="0">
            <a:spAutoFit/>
          </a:bodyPr>
          <a:lstStyle/>
          <a:p>
            <a:r>
              <a:rPr lang="en-US" dirty="0"/>
              <a:t>glucose</a:t>
            </a:r>
          </a:p>
        </p:txBody>
      </p:sp>
      <p:sp>
        <p:nvSpPr>
          <p:cNvPr id="21" name="TextBox 20"/>
          <p:cNvSpPr txBox="1"/>
          <p:nvPr/>
        </p:nvSpPr>
        <p:spPr>
          <a:xfrm>
            <a:off x="2093917" y="6139934"/>
            <a:ext cx="420683" cy="369332"/>
          </a:xfrm>
          <a:prstGeom prst="rect">
            <a:avLst/>
          </a:prstGeom>
          <a:noFill/>
        </p:spPr>
        <p:txBody>
          <a:bodyPr wrap="none" rtlCol="0">
            <a:spAutoFit/>
          </a:bodyPr>
          <a:lstStyle/>
          <a:p>
            <a:r>
              <a:rPr lang="en-US" dirty="0"/>
              <a:t>O</a:t>
            </a:r>
            <a:r>
              <a:rPr lang="en-US" baseline="-25000" dirty="0"/>
              <a:t>2</a:t>
            </a:r>
            <a:endParaRPr lang="en-US" dirty="0"/>
          </a:p>
        </p:txBody>
      </p:sp>
      <p:sp>
        <p:nvSpPr>
          <p:cNvPr id="22" name="TextBox 21"/>
          <p:cNvSpPr txBox="1"/>
          <p:nvPr/>
        </p:nvSpPr>
        <p:spPr>
          <a:xfrm>
            <a:off x="5258802" y="6139934"/>
            <a:ext cx="549174" cy="369332"/>
          </a:xfrm>
          <a:prstGeom prst="rect">
            <a:avLst/>
          </a:prstGeom>
          <a:noFill/>
        </p:spPr>
        <p:txBody>
          <a:bodyPr wrap="none" rtlCol="0">
            <a:spAutoFit/>
          </a:bodyPr>
          <a:lstStyle/>
          <a:p>
            <a:r>
              <a:rPr lang="en-US" dirty="0"/>
              <a:t>CO</a:t>
            </a:r>
            <a:r>
              <a:rPr lang="en-US" baseline="-25000" dirty="0"/>
              <a:t>2</a:t>
            </a:r>
            <a:endParaRPr lang="en-US" dirty="0"/>
          </a:p>
        </p:txBody>
      </p:sp>
      <p:sp>
        <p:nvSpPr>
          <p:cNvPr id="23" name="TextBox 22"/>
          <p:cNvSpPr txBox="1"/>
          <p:nvPr/>
        </p:nvSpPr>
        <p:spPr>
          <a:xfrm>
            <a:off x="5257800" y="5257800"/>
            <a:ext cx="929461" cy="369332"/>
          </a:xfrm>
          <a:prstGeom prst="rect">
            <a:avLst/>
          </a:prstGeom>
          <a:noFill/>
        </p:spPr>
        <p:txBody>
          <a:bodyPr wrap="none" rtlCol="0">
            <a:spAutoFit/>
          </a:bodyPr>
          <a:lstStyle/>
          <a:p>
            <a:r>
              <a:rPr lang="en-US" dirty="0"/>
              <a:t>ethanol</a:t>
            </a:r>
          </a:p>
        </p:txBody>
      </p:sp>
      <p:sp>
        <p:nvSpPr>
          <p:cNvPr id="24" name="Oval 23"/>
          <p:cNvSpPr/>
          <p:nvPr/>
        </p:nvSpPr>
        <p:spPr bwMode="auto">
          <a:xfrm>
            <a:off x="6705600" y="4724400"/>
            <a:ext cx="1295400" cy="838200"/>
          </a:xfrm>
          <a:prstGeom prst="ellipse">
            <a:avLst/>
          </a:prstGeom>
          <a:solidFill>
            <a:srgbClr val="FFFF00"/>
          </a:solidFill>
          <a:ln w="9525" cap="flat" cmpd="sng" algn="ctr">
            <a:noFill/>
            <a:prstDash val="solid"/>
            <a:round/>
            <a:headEnd type="none" w="med" len="med"/>
            <a:tailEnd type="none" w="med" len="med"/>
          </a:ln>
          <a:effectLst>
            <a:outerShdw blurRad="50800" dist="38100" dir="2700000">
              <a:srgbClr val="000000">
                <a:alpha val="43000"/>
              </a:srgb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5" charset="0"/>
            </a:endParaRPr>
          </a:p>
        </p:txBody>
      </p:sp>
      <p:sp>
        <p:nvSpPr>
          <p:cNvPr id="25" name="Oval 24"/>
          <p:cNvSpPr/>
          <p:nvPr/>
        </p:nvSpPr>
        <p:spPr bwMode="auto">
          <a:xfrm>
            <a:off x="7620000" y="4648200"/>
            <a:ext cx="381000" cy="381000"/>
          </a:xfrm>
          <a:prstGeom prst="ellipse">
            <a:avLst/>
          </a:prstGeom>
          <a:solidFill>
            <a:srgbClr val="FFFF00"/>
          </a:solidFill>
          <a:ln w="9525" cap="flat" cmpd="sng" algn="ctr">
            <a:noFill/>
            <a:prstDash val="solid"/>
            <a:round/>
            <a:headEnd type="none" w="med" len="med"/>
            <a:tailEnd type="none" w="med" len="med"/>
          </a:ln>
          <a:effectLst>
            <a:outerShdw blurRad="50800" dist="38100" dir="2700000">
              <a:srgbClr val="000000">
                <a:alpha val="43000"/>
              </a:srgb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5" charset="0"/>
            </a:endParaRPr>
          </a:p>
        </p:txBody>
      </p:sp>
      <p:cxnSp>
        <p:nvCxnSpPr>
          <p:cNvPr id="27" name="Shape 26"/>
          <p:cNvCxnSpPr>
            <a:stCxn id="10" idx="0"/>
            <a:endCxn id="24" idx="2"/>
          </p:cNvCxnSpPr>
          <p:nvPr/>
        </p:nvCxnSpPr>
        <p:spPr bwMode="auto">
          <a:xfrm rot="5400000" flipH="1" flipV="1">
            <a:off x="5143500" y="3924300"/>
            <a:ext cx="342900" cy="2781300"/>
          </a:xfrm>
          <a:prstGeom prst="bentConnector2">
            <a:avLst/>
          </a:prstGeom>
          <a:solidFill>
            <a:schemeClr val="accent1"/>
          </a:solidFill>
          <a:ln w="9525" cap="flat" cmpd="sng" algn="ctr">
            <a:solidFill>
              <a:schemeClr val="tx1"/>
            </a:solidFill>
            <a:prstDash val="solid"/>
            <a:round/>
            <a:headEnd type="none" w="med" len="med"/>
            <a:tailEnd type="arrow"/>
          </a:ln>
          <a:effectLst/>
        </p:spPr>
      </p:cxnSp>
      <p:sp>
        <p:nvSpPr>
          <p:cNvPr id="28" name="TextBox 27"/>
          <p:cNvSpPr txBox="1"/>
          <p:nvPr/>
        </p:nvSpPr>
        <p:spPr>
          <a:xfrm>
            <a:off x="4907896" y="4495800"/>
            <a:ext cx="1492904" cy="646331"/>
          </a:xfrm>
          <a:prstGeom prst="rect">
            <a:avLst/>
          </a:prstGeom>
          <a:noFill/>
        </p:spPr>
        <p:txBody>
          <a:bodyPr wrap="none" rtlCol="0">
            <a:spAutoFit/>
          </a:bodyPr>
          <a:lstStyle/>
          <a:p>
            <a:pPr algn="ctr"/>
            <a:r>
              <a:rPr lang="en-US" dirty="0"/>
              <a:t>biomass</a:t>
            </a:r>
          </a:p>
          <a:p>
            <a:pPr algn="ctr"/>
            <a:r>
              <a:rPr lang="en-US" dirty="0"/>
              <a:t>(=yeast cells)</a:t>
            </a:r>
          </a:p>
        </p:txBody>
      </p:sp>
      <p:sp>
        <p:nvSpPr>
          <p:cNvPr id="2" name="Title 1">
            <a:extLst>
              <a:ext uri="{FF2B5EF4-FFF2-40B4-BE49-F238E27FC236}">
                <a16:creationId xmlns:a16="http://schemas.microsoft.com/office/drawing/2014/main" id="{4CB19A79-9582-483D-8618-6331E997D974}"/>
              </a:ext>
            </a:extLst>
          </p:cNvPr>
          <p:cNvSpPr>
            <a:spLocks noGrp="1"/>
          </p:cNvSpPr>
          <p:nvPr>
            <p:ph type="title"/>
          </p:nvPr>
        </p:nvSpPr>
        <p:spPr/>
        <p:txBody>
          <a:bodyPr/>
          <a:lstStyle/>
          <a:p>
            <a:r>
              <a:rPr lang="da-DK">
                <a:latin typeface="Arial" charset="0"/>
                <a:cs typeface="Arial" charset="0"/>
              </a:rPr>
              <a:t>Something about units of rates</a:t>
            </a:r>
            <a:endParaRPr lang="en-GB"/>
          </a:p>
        </p:txBody>
      </p:sp>
    </p:spTree>
    <p:extLst>
      <p:ext uri="{BB962C8B-B14F-4D97-AF65-F5344CB8AC3E}">
        <p14:creationId xmlns:p14="http://schemas.microsoft.com/office/powerpoint/2010/main" val="258408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531FAB-F8D5-4EB6-8A57-E224F2ABFFE7}"/>
              </a:ext>
            </a:extLst>
          </p:cNvPr>
          <p:cNvSpPr>
            <a:spLocks noGrp="1"/>
          </p:cNvSpPr>
          <p:nvPr>
            <p:ph idx="1"/>
          </p:nvPr>
        </p:nvSpPr>
        <p:spPr>
          <a:xfrm>
            <a:off x="2276474" y="1495425"/>
            <a:ext cx="6607273" cy="5228932"/>
          </a:xfrm>
        </p:spPr>
        <p:txBody>
          <a:bodyPr/>
          <a:lstStyle/>
          <a:p>
            <a:pPr marL="0" indent="0">
              <a:buNone/>
            </a:pPr>
            <a:r>
              <a:rPr lang="en-US" sz="2000">
                <a:latin typeface="Arial"/>
              </a:rPr>
              <a:t>Often we normalize rates with the amount of biomass</a:t>
            </a:r>
          </a:p>
          <a:p>
            <a:endParaRPr lang="en-US" sz="2000">
              <a:latin typeface="Arial"/>
            </a:endParaRPr>
          </a:p>
          <a:p>
            <a:pPr marL="0" indent="0">
              <a:buNone/>
            </a:pPr>
            <a:r>
              <a:rPr lang="en-US" sz="2000">
                <a:latin typeface="Arial"/>
              </a:rPr>
              <a:t>These are called </a:t>
            </a:r>
            <a:r>
              <a:rPr lang="en-US" sz="2000" b="1">
                <a:latin typeface="Arial"/>
              </a:rPr>
              <a:t>specific rates</a:t>
            </a:r>
            <a:r>
              <a:rPr lang="en-US" sz="2000">
                <a:latin typeface="Arial"/>
              </a:rPr>
              <a:t>, e.g. specific glucose uptake rate, i.e. with units:</a:t>
            </a:r>
          </a:p>
          <a:p>
            <a:r>
              <a:rPr lang="en-US" sz="2000">
                <a:latin typeface="Arial"/>
              </a:rPr>
              <a:t> moles/g DW/h (or mmoles/g DW/h)</a:t>
            </a:r>
          </a:p>
          <a:p>
            <a:r>
              <a:rPr lang="en-US" sz="2000">
                <a:latin typeface="Arial"/>
              </a:rPr>
              <a:t> g/g DW/h (or Kg/g DW/h)</a:t>
            </a:r>
          </a:p>
          <a:p>
            <a:endParaRPr lang="en-GB" sz="2000"/>
          </a:p>
        </p:txBody>
      </p:sp>
      <p:pic>
        <p:nvPicPr>
          <p:cNvPr id="7" name="Picture 6"/>
          <p:cNvPicPr>
            <a:picLocks noChangeAspect="1"/>
          </p:cNvPicPr>
          <p:nvPr/>
        </p:nvPicPr>
        <p:blipFill>
          <a:blip r:embed="rId2"/>
          <a:stretch>
            <a:fillRect/>
          </a:stretch>
        </p:blipFill>
        <p:spPr>
          <a:xfrm>
            <a:off x="685800" y="1295400"/>
            <a:ext cx="1066800" cy="1905000"/>
          </a:xfrm>
          <a:prstGeom prst="rect">
            <a:avLst/>
          </a:prstGeom>
        </p:spPr>
      </p:pic>
      <p:pic>
        <p:nvPicPr>
          <p:cNvPr id="8" name="Picture 7"/>
          <p:cNvPicPr>
            <a:picLocks noChangeAspect="1"/>
          </p:cNvPicPr>
          <p:nvPr/>
        </p:nvPicPr>
        <p:blipFill>
          <a:blip r:embed="rId3"/>
          <a:stretch>
            <a:fillRect/>
          </a:stretch>
        </p:blipFill>
        <p:spPr>
          <a:xfrm>
            <a:off x="25400" y="3429000"/>
            <a:ext cx="1651000" cy="1448519"/>
          </a:xfrm>
          <a:prstGeom prst="rect">
            <a:avLst/>
          </a:prstGeom>
        </p:spPr>
      </p:pic>
      <p:sp>
        <p:nvSpPr>
          <p:cNvPr id="10" name="Oval 9"/>
          <p:cNvSpPr/>
          <p:nvPr/>
        </p:nvSpPr>
        <p:spPr bwMode="auto">
          <a:xfrm>
            <a:off x="3276600" y="5486400"/>
            <a:ext cx="1295400" cy="838200"/>
          </a:xfrm>
          <a:prstGeom prst="ellipse">
            <a:avLst/>
          </a:prstGeom>
          <a:solidFill>
            <a:srgbClr val="FFFF00"/>
          </a:solidFill>
          <a:ln w="9525" cap="flat" cmpd="sng" algn="ctr">
            <a:noFill/>
            <a:prstDash val="solid"/>
            <a:round/>
            <a:headEnd type="none" w="med" len="med"/>
            <a:tailEnd type="none" w="med" len="med"/>
          </a:ln>
          <a:effectLst>
            <a:outerShdw blurRad="50800" dist="38100" dir="2700000">
              <a:srgbClr val="000000">
                <a:alpha val="43000"/>
              </a:srgb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5" charset="0"/>
            </a:endParaRPr>
          </a:p>
        </p:txBody>
      </p:sp>
      <p:sp>
        <p:nvSpPr>
          <p:cNvPr id="11" name="Oval 10"/>
          <p:cNvSpPr/>
          <p:nvPr/>
        </p:nvSpPr>
        <p:spPr bwMode="auto">
          <a:xfrm>
            <a:off x="4191000" y="5410200"/>
            <a:ext cx="381000" cy="381000"/>
          </a:xfrm>
          <a:prstGeom prst="ellipse">
            <a:avLst/>
          </a:prstGeom>
          <a:solidFill>
            <a:srgbClr val="FFFF00"/>
          </a:solidFill>
          <a:ln w="9525" cap="flat" cmpd="sng" algn="ctr">
            <a:noFill/>
            <a:prstDash val="solid"/>
            <a:round/>
            <a:headEnd type="none" w="med" len="med"/>
            <a:tailEnd type="none" w="med" len="med"/>
          </a:ln>
          <a:effectLst>
            <a:outerShdw blurRad="50800" dist="38100" dir="2700000">
              <a:srgbClr val="000000">
                <a:alpha val="43000"/>
              </a:srgb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5" charset="0"/>
            </a:endParaRPr>
          </a:p>
        </p:txBody>
      </p:sp>
      <p:cxnSp>
        <p:nvCxnSpPr>
          <p:cNvPr id="13" name="Straight Arrow Connector 12"/>
          <p:cNvCxnSpPr/>
          <p:nvPr/>
        </p:nvCxnSpPr>
        <p:spPr bwMode="auto">
          <a:xfrm>
            <a:off x="2590800" y="5486400"/>
            <a:ext cx="685800" cy="304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5" name="Straight Arrow Connector 14"/>
          <p:cNvCxnSpPr/>
          <p:nvPr/>
        </p:nvCxnSpPr>
        <p:spPr bwMode="auto">
          <a:xfrm flipV="1">
            <a:off x="2590800" y="6019800"/>
            <a:ext cx="685800" cy="304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7" name="Straight Arrow Connector 16"/>
          <p:cNvCxnSpPr/>
          <p:nvPr/>
        </p:nvCxnSpPr>
        <p:spPr bwMode="auto">
          <a:xfrm flipV="1">
            <a:off x="4572000" y="5486400"/>
            <a:ext cx="685800" cy="304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9" name="Straight Arrow Connector 18"/>
          <p:cNvCxnSpPr/>
          <p:nvPr/>
        </p:nvCxnSpPr>
        <p:spPr bwMode="auto">
          <a:xfrm>
            <a:off x="4572000" y="6019800"/>
            <a:ext cx="685800" cy="304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0" name="TextBox 19"/>
          <p:cNvSpPr txBox="1"/>
          <p:nvPr/>
        </p:nvSpPr>
        <p:spPr>
          <a:xfrm>
            <a:off x="1676400" y="5257800"/>
            <a:ext cx="928459" cy="369332"/>
          </a:xfrm>
          <a:prstGeom prst="rect">
            <a:avLst/>
          </a:prstGeom>
          <a:noFill/>
        </p:spPr>
        <p:txBody>
          <a:bodyPr wrap="none" rtlCol="0">
            <a:spAutoFit/>
          </a:bodyPr>
          <a:lstStyle/>
          <a:p>
            <a:r>
              <a:rPr lang="en-US" dirty="0"/>
              <a:t>glucose</a:t>
            </a:r>
          </a:p>
        </p:txBody>
      </p:sp>
      <p:sp>
        <p:nvSpPr>
          <p:cNvPr id="21" name="TextBox 20"/>
          <p:cNvSpPr txBox="1"/>
          <p:nvPr/>
        </p:nvSpPr>
        <p:spPr>
          <a:xfrm>
            <a:off x="2093917" y="6139934"/>
            <a:ext cx="420683" cy="369332"/>
          </a:xfrm>
          <a:prstGeom prst="rect">
            <a:avLst/>
          </a:prstGeom>
          <a:noFill/>
        </p:spPr>
        <p:txBody>
          <a:bodyPr wrap="none" rtlCol="0">
            <a:spAutoFit/>
          </a:bodyPr>
          <a:lstStyle/>
          <a:p>
            <a:r>
              <a:rPr lang="en-US" dirty="0"/>
              <a:t>O</a:t>
            </a:r>
            <a:r>
              <a:rPr lang="en-US" baseline="-25000" dirty="0"/>
              <a:t>2</a:t>
            </a:r>
            <a:endParaRPr lang="en-US" dirty="0"/>
          </a:p>
        </p:txBody>
      </p:sp>
      <p:sp>
        <p:nvSpPr>
          <p:cNvPr id="22" name="TextBox 21"/>
          <p:cNvSpPr txBox="1"/>
          <p:nvPr/>
        </p:nvSpPr>
        <p:spPr>
          <a:xfrm>
            <a:off x="5258802" y="6139934"/>
            <a:ext cx="549174" cy="369332"/>
          </a:xfrm>
          <a:prstGeom prst="rect">
            <a:avLst/>
          </a:prstGeom>
          <a:noFill/>
        </p:spPr>
        <p:txBody>
          <a:bodyPr wrap="none" rtlCol="0">
            <a:spAutoFit/>
          </a:bodyPr>
          <a:lstStyle/>
          <a:p>
            <a:r>
              <a:rPr lang="en-US" dirty="0"/>
              <a:t>CO</a:t>
            </a:r>
            <a:r>
              <a:rPr lang="en-US" baseline="-25000" dirty="0"/>
              <a:t>2</a:t>
            </a:r>
            <a:endParaRPr lang="en-US" dirty="0"/>
          </a:p>
        </p:txBody>
      </p:sp>
      <p:sp>
        <p:nvSpPr>
          <p:cNvPr id="23" name="TextBox 22"/>
          <p:cNvSpPr txBox="1"/>
          <p:nvPr/>
        </p:nvSpPr>
        <p:spPr>
          <a:xfrm>
            <a:off x="5257800" y="5257800"/>
            <a:ext cx="929461" cy="369332"/>
          </a:xfrm>
          <a:prstGeom prst="rect">
            <a:avLst/>
          </a:prstGeom>
          <a:noFill/>
        </p:spPr>
        <p:txBody>
          <a:bodyPr wrap="none" rtlCol="0">
            <a:spAutoFit/>
          </a:bodyPr>
          <a:lstStyle/>
          <a:p>
            <a:r>
              <a:rPr lang="en-US" dirty="0"/>
              <a:t>ethanol</a:t>
            </a:r>
          </a:p>
        </p:txBody>
      </p:sp>
      <p:sp>
        <p:nvSpPr>
          <p:cNvPr id="24" name="Oval 23"/>
          <p:cNvSpPr/>
          <p:nvPr/>
        </p:nvSpPr>
        <p:spPr bwMode="auto">
          <a:xfrm>
            <a:off x="6705600" y="4724400"/>
            <a:ext cx="1295400" cy="838200"/>
          </a:xfrm>
          <a:prstGeom prst="ellipse">
            <a:avLst/>
          </a:prstGeom>
          <a:solidFill>
            <a:srgbClr val="FFFF00"/>
          </a:solidFill>
          <a:ln w="9525" cap="flat" cmpd="sng" algn="ctr">
            <a:noFill/>
            <a:prstDash val="solid"/>
            <a:round/>
            <a:headEnd type="none" w="med" len="med"/>
            <a:tailEnd type="none" w="med" len="med"/>
          </a:ln>
          <a:effectLst>
            <a:outerShdw blurRad="50800" dist="38100" dir="2700000">
              <a:srgbClr val="000000">
                <a:alpha val="43000"/>
              </a:srgb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5" charset="0"/>
            </a:endParaRPr>
          </a:p>
        </p:txBody>
      </p:sp>
      <p:sp>
        <p:nvSpPr>
          <p:cNvPr id="25" name="Oval 24"/>
          <p:cNvSpPr/>
          <p:nvPr/>
        </p:nvSpPr>
        <p:spPr bwMode="auto">
          <a:xfrm>
            <a:off x="7620000" y="4648200"/>
            <a:ext cx="381000" cy="381000"/>
          </a:xfrm>
          <a:prstGeom prst="ellipse">
            <a:avLst/>
          </a:prstGeom>
          <a:solidFill>
            <a:srgbClr val="FFFF00"/>
          </a:solidFill>
          <a:ln w="9525" cap="flat" cmpd="sng" algn="ctr">
            <a:noFill/>
            <a:prstDash val="solid"/>
            <a:round/>
            <a:headEnd type="none" w="med" len="med"/>
            <a:tailEnd type="none" w="med" len="med"/>
          </a:ln>
          <a:effectLst>
            <a:outerShdw blurRad="50800" dist="38100" dir="2700000">
              <a:srgbClr val="000000">
                <a:alpha val="43000"/>
              </a:srgb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5" charset="0"/>
            </a:endParaRPr>
          </a:p>
        </p:txBody>
      </p:sp>
      <p:cxnSp>
        <p:nvCxnSpPr>
          <p:cNvPr id="27" name="Shape 26"/>
          <p:cNvCxnSpPr>
            <a:stCxn id="10" idx="0"/>
            <a:endCxn id="24" idx="2"/>
          </p:cNvCxnSpPr>
          <p:nvPr/>
        </p:nvCxnSpPr>
        <p:spPr bwMode="auto">
          <a:xfrm rot="5400000" flipH="1" flipV="1">
            <a:off x="5143500" y="3924300"/>
            <a:ext cx="342900" cy="2781300"/>
          </a:xfrm>
          <a:prstGeom prst="bentConnector2">
            <a:avLst/>
          </a:prstGeom>
          <a:solidFill>
            <a:schemeClr val="accent1"/>
          </a:solidFill>
          <a:ln w="9525" cap="flat" cmpd="sng" algn="ctr">
            <a:solidFill>
              <a:schemeClr val="tx1"/>
            </a:solidFill>
            <a:prstDash val="solid"/>
            <a:round/>
            <a:headEnd type="none" w="med" len="med"/>
            <a:tailEnd type="arrow"/>
          </a:ln>
          <a:effectLst/>
        </p:spPr>
      </p:cxnSp>
      <p:sp>
        <p:nvSpPr>
          <p:cNvPr id="28" name="TextBox 27"/>
          <p:cNvSpPr txBox="1"/>
          <p:nvPr/>
        </p:nvSpPr>
        <p:spPr>
          <a:xfrm>
            <a:off x="4907896" y="4495800"/>
            <a:ext cx="1492904" cy="646331"/>
          </a:xfrm>
          <a:prstGeom prst="rect">
            <a:avLst/>
          </a:prstGeom>
          <a:noFill/>
        </p:spPr>
        <p:txBody>
          <a:bodyPr wrap="none" rtlCol="0">
            <a:spAutoFit/>
          </a:bodyPr>
          <a:lstStyle/>
          <a:p>
            <a:pPr algn="ctr"/>
            <a:r>
              <a:rPr lang="en-US" dirty="0"/>
              <a:t>biomass</a:t>
            </a:r>
          </a:p>
          <a:p>
            <a:pPr algn="ctr"/>
            <a:r>
              <a:rPr lang="en-US" dirty="0"/>
              <a:t>(=yeast cells)</a:t>
            </a:r>
          </a:p>
        </p:txBody>
      </p:sp>
      <p:sp>
        <p:nvSpPr>
          <p:cNvPr id="2" name="Title 1">
            <a:extLst>
              <a:ext uri="{FF2B5EF4-FFF2-40B4-BE49-F238E27FC236}">
                <a16:creationId xmlns:a16="http://schemas.microsoft.com/office/drawing/2014/main" id="{213ED02D-FCFE-464D-B764-7F171A6356A1}"/>
              </a:ext>
            </a:extLst>
          </p:cNvPr>
          <p:cNvSpPr>
            <a:spLocks noGrp="1"/>
          </p:cNvSpPr>
          <p:nvPr>
            <p:ph type="title"/>
          </p:nvPr>
        </p:nvSpPr>
        <p:spPr/>
        <p:txBody>
          <a:bodyPr/>
          <a:lstStyle/>
          <a:p>
            <a:r>
              <a:rPr lang="en-GB"/>
              <a:t>Specific rates</a:t>
            </a:r>
          </a:p>
        </p:txBody>
      </p:sp>
    </p:spTree>
    <p:extLst>
      <p:ext uri="{BB962C8B-B14F-4D97-AF65-F5344CB8AC3E}">
        <p14:creationId xmlns:p14="http://schemas.microsoft.com/office/powerpoint/2010/main" val="855389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4F1474-B796-4BB6-A1B2-E82EF15164CA}"/>
              </a:ext>
            </a:extLst>
          </p:cNvPr>
          <p:cNvSpPr>
            <a:spLocks noGrp="1"/>
          </p:cNvSpPr>
          <p:nvPr>
            <p:ph idx="1"/>
          </p:nvPr>
        </p:nvSpPr>
        <p:spPr/>
        <p:txBody>
          <a:bodyPr/>
          <a:lstStyle/>
          <a:p>
            <a:r>
              <a:rPr lang="en-GB"/>
              <a:t>Assume that we performed a cultivation and measured:</a:t>
            </a:r>
          </a:p>
          <a:p>
            <a:pPr lvl="1"/>
            <a:r>
              <a:rPr lang="en-GB"/>
              <a:t>Extracellular glucose and ethanol using HPLC, allowing to determine v</a:t>
            </a:r>
            <a:r>
              <a:rPr lang="en-GB" baseline="-25000"/>
              <a:t>1</a:t>
            </a:r>
            <a:r>
              <a:rPr lang="en-GB"/>
              <a:t> and v</a:t>
            </a:r>
            <a:r>
              <a:rPr lang="en-GB" baseline="-25000"/>
              <a:t>12</a:t>
            </a:r>
            <a:r>
              <a:rPr lang="en-GB"/>
              <a:t> </a:t>
            </a:r>
            <a:endParaRPr lang="en-GB" baseline="-25000"/>
          </a:p>
          <a:p>
            <a:pPr lvl="1"/>
            <a:r>
              <a:rPr lang="en-GB"/>
              <a:t>O</a:t>
            </a:r>
            <a:r>
              <a:rPr lang="en-GB" baseline="-25000"/>
              <a:t>2</a:t>
            </a:r>
            <a:r>
              <a:rPr lang="en-GB"/>
              <a:t> consumption by online gas-analyser, giving v</a:t>
            </a:r>
            <a:r>
              <a:rPr lang="en-GB" baseline="-25000"/>
              <a:t>16</a:t>
            </a:r>
            <a:endParaRPr lang="en-GB"/>
          </a:p>
          <a:p>
            <a:pPr lvl="1"/>
            <a:r>
              <a:rPr lang="en-GB"/>
              <a:t>Growth rate: v</a:t>
            </a:r>
            <a:r>
              <a:rPr lang="en-GB" baseline="-25000"/>
              <a:t>18</a:t>
            </a:r>
            <a:endParaRPr lang="en-GB"/>
          </a:p>
          <a:p>
            <a:r>
              <a:rPr lang="en-GB"/>
              <a:t>v</a:t>
            </a:r>
            <a:r>
              <a:rPr lang="en-GB" baseline="-25000"/>
              <a:t>1</a:t>
            </a:r>
            <a:r>
              <a:rPr lang="en-GB"/>
              <a:t> = 1; v</a:t>
            </a:r>
            <a:r>
              <a:rPr lang="en-GB" baseline="-25000"/>
              <a:t>12</a:t>
            </a:r>
            <a:r>
              <a:rPr lang="en-GB"/>
              <a:t> = 0; v</a:t>
            </a:r>
            <a:r>
              <a:rPr lang="en-GB" baseline="-25000"/>
              <a:t>16</a:t>
            </a:r>
            <a:r>
              <a:rPr lang="en-GB"/>
              <a:t> = -5; v</a:t>
            </a:r>
            <a:r>
              <a:rPr lang="en-GB" baseline="-25000"/>
              <a:t>18</a:t>
            </a:r>
            <a:r>
              <a:rPr lang="en-GB"/>
              <a:t> = 0.05</a:t>
            </a:r>
          </a:p>
          <a:p>
            <a:r>
              <a:rPr lang="en-GB"/>
              <a:t>What is the rate of PHB production?</a:t>
            </a:r>
          </a:p>
          <a:p>
            <a:endParaRPr lang="en-GB"/>
          </a:p>
          <a:p>
            <a:pPr marL="0" indent="0">
              <a:buNone/>
            </a:pPr>
            <a:endParaRPr lang="en-GB"/>
          </a:p>
          <a:p>
            <a:r>
              <a:rPr lang="en-GB" sz="2000">
                <a:highlight>
                  <a:srgbClr val="C0C0C0"/>
                </a:highlight>
                <a:latin typeface="Lucida Console" panose="020B0609040504020204" pitchFamily="49" charset="0"/>
              </a:rPr>
              <a:t>solveMFA(Sin, [1, 12, 16, 18], [1, 0, -5, 0.05]);</a:t>
            </a:r>
          </a:p>
        </p:txBody>
      </p:sp>
      <p:sp>
        <p:nvSpPr>
          <p:cNvPr id="3" name="Title 2">
            <a:extLst>
              <a:ext uri="{FF2B5EF4-FFF2-40B4-BE49-F238E27FC236}">
                <a16:creationId xmlns:a16="http://schemas.microsoft.com/office/drawing/2014/main" id="{5A0F37A8-94DB-4859-996D-FE8AE25A74A3}"/>
              </a:ext>
            </a:extLst>
          </p:cNvPr>
          <p:cNvSpPr>
            <a:spLocks noGrp="1"/>
          </p:cNvSpPr>
          <p:nvPr>
            <p:ph type="title"/>
          </p:nvPr>
        </p:nvSpPr>
        <p:spPr/>
        <p:txBody>
          <a:bodyPr/>
          <a:lstStyle/>
          <a:p>
            <a:r>
              <a:rPr lang="en-GB"/>
              <a:t>Question 6</a:t>
            </a:r>
          </a:p>
        </p:txBody>
      </p:sp>
      <p:sp>
        <p:nvSpPr>
          <p:cNvPr id="4" name="TextBox 3">
            <a:extLst>
              <a:ext uri="{FF2B5EF4-FFF2-40B4-BE49-F238E27FC236}">
                <a16:creationId xmlns:a16="http://schemas.microsoft.com/office/drawing/2014/main" id="{38360D1E-0B36-4EFB-978E-77C34946FA92}"/>
              </a:ext>
            </a:extLst>
          </p:cNvPr>
          <p:cNvSpPr txBox="1"/>
          <p:nvPr/>
        </p:nvSpPr>
        <p:spPr>
          <a:xfrm>
            <a:off x="6562459" y="6396335"/>
            <a:ext cx="2581541" cy="461665"/>
          </a:xfrm>
          <a:prstGeom prst="rect">
            <a:avLst/>
          </a:prstGeom>
          <a:noFill/>
        </p:spPr>
        <p:txBody>
          <a:bodyPr wrap="none" rtlCol="0">
            <a:spAutoFit/>
          </a:bodyPr>
          <a:lstStyle/>
          <a:p>
            <a:r>
              <a:rPr lang="en-GB" sz="2400" b="1">
                <a:latin typeface="Calibri" panose="020F0502020204030204" pitchFamily="34" charset="0"/>
                <a:cs typeface="Calibri" panose="020F0502020204030204" pitchFamily="34" charset="0"/>
              </a:rPr>
              <a:t>http://etc.ch/gQLF</a:t>
            </a:r>
          </a:p>
        </p:txBody>
      </p:sp>
    </p:spTree>
    <p:extLst>
      <p:ext uri="{BB962C8B-B14F-4D97-AF65-F5344CB8AC3E}">
        <p14:creationId xmlns:p14="http://schemas.microsoft.com/office/powerpoint/2010/main" val="3489960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4D0BBC-0079-4C7C-AE4F-7B90BB74B341}"/>
              </a:ext>
            </a:extLst>
          </p:cNvPr>
          <p:cNvSpPr>
            <a:spLocks noGrp="1"/>
          </p:cNvSpPr>
          <p:nvPr>
            <p:ph idx="1"/>
          </p:nvPr>
        </p:nvSpPr>
        <p:spPr/>
        <p:txBody>
          <a:bodyPr/>
          <a:lstStyle/>
          <a:p>
            <a:r>
              <a:rPr lang="en-GB"/>
              <a:t>Reorganize some of the rows of the </a:t>
            </a:r>
            <a:r>
              <a:rPr lang="en-GB" b="1"/>
              <a:t>S</a:t>
            </a:r>
            <a:r>
              <a:rPr lang="en-GB" i="1" baseline="-25000"/>
              <a:t>in</a:t>
            </a:r>
            <a:r>
              <a:rPr lang="en-GB"/>
              <a:t>-matrix, and recalculate the PHB production</a:t>
            </a:r>
          </a:p>
        </p:txBody>
      </p:sp>
      <p:sp>
        <p:nvSpPr>
          <p:cNvPr id="3" name="Title 2">
            <a:extLst>
              <a:ext uri="{FF2B5EF4-FFF2-40B4-BE49-F238E27FC236}">
                <a16:creationId xmlns:a16="http://schemas.microsoft.com/office/drawing/2014/main" id="{3CCFCF92-8C11-4075-B3DC-CD5A113B416E}"/>
              </a:ext>
            </a:extLst>
          </p:cNvPr>
          <p:cNvSpPr>
            <a:spLocks noGrp="1"/>
          </p:cNvSpPr>
          <p:nvPr>
            <p:ph type="title"/>
          </p:nvPr>
        </p:nvSpPr>
        <p:spPr/>
        <p:txBody>
          <a:bodyPr/>
          <a:lstStyle/>
          <a:p>
            <a:r>
              <a:rPr lang="en-GB"/>
              <a:t>Question 7</a:t>
            </a:r>
          </a:p>
        </p:txBody>
      </p:sp>
      <p:pic>
        <p:nvPicPr>
          <p:cNvPr id="4" name="Picture 3">
            <a:extLst>
              <a:ext uri="{FF2B5EF4-FFF2-40B4-BE49-F238E27FC236}">
                <a16:creationId xmlns:a16="http://schemas.microsoft.com/office/drawing/2014/main" id="{1481E6B7-3840-402F-ABDC-511F96FC4968}"/>
              </a:ext>
            </a:extLst>
          </p:cNvPr>
          <p:cNvPicPr>
            <a:picLocks noChangeAspect="1"/>
          </p:cNvPicPr>
          <p:nvPr/>
        </p:nvPicPr>
        <p:blipFill>
          <a:blip r:embed="rId2"/>
          <a:stretch>
            <a:fillRect/>
          </a:stretch>
        </p:blipFill>
        <p:spPr>
          <a:xfrm>
            <a:off x="1202127" y="1814124"/>
            <a:ext cx="6739746" cy="4895850"/>
          </a:xfrm>
          <a:prstGeom prst="rect">
            <a:avLst/>
          </a:prstGeom>
        </p:spPr>
      </p:pic>
    </p:spTree>
    <p:extLst>
      <p:ext uri="{BB962C8B-B14F-4D97-AF65-F5344CB8AC3E}">
        <p14:creationId xmlns:p14="http://schemas.microsoft.com/office/powerpoint/2010/main" val="1366326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C1F095BC-F573-432F-8CF6-CEE8F0AAB396}"/>
                  </a:ext>
                </a:extLst>
              </p:cNvPr>
              <p:cNvSpPr>
                <a:spLocks noGrp="1"/>
              </p:cNvSpPr>
              <p:nvPr>
                <p:ph idx="1"/>
              </p:nvPr>
            </p:nvSpPr>
            <p:spPr/>
            <p:txBody>
              <a:bodyPr/>
              <a:lstStyle/>
              <a:p>
                <a:r>
                  <a:rPr lang="en-GB"/>
                  <a:t>How much of </a:t>
                </a:r>
                <a:r>
                  <a:rPr lang="en-GB" i="1"/>
                  <a:t>x </a:t>
                </a:r>
                <a:r>
                  <a:rPr lang="en-GB"/>
                  <a:t>do you get from </a:t>
                </a:r>
                <a:r>
                  <a:rPr lang="en-GB" i="1"/>
                  <a:t>y</a:t>
                </a:r>
                <a:r>
                  <a:rPr lang="en-GB"/>
                  <a:t>?</a:t>
                </a:r>
              </a:p>
              <a:p>
                <a:r>
                  <a:rPr lang="en-GB"/>
                  <a:t>How much </a:t>
                </a:r>
                <a:r>
                  <a:rPr lang="en-GB" i="1"/>
                  <a:t>desired product </a:t>
                </a:r>
                <a:r>
                  <a:rPr lang="en-GB"/>
                  <a:t>can you get from the </a:t>
                </a:r>
                <a:r>
                  <a:rPr lang="en-GB" i="1"/>
                  <a:t>substrate</a:t>
                </a:r>
              </a:p>
              <a:p>
                <a14:m>
                  <m:oMath xmlns:m="http://schemas.openxmlformats.org/officeDocument/2006/math">
                    <m:sSub>
                      <m:sSubPr>
                        <m:ctrlPr>
                          <a:rPr lang="en-GB" i="1">
                            <a:latin typeface="Cambria Math" panose="02040503050406030204" pitchFamily="18" charset="0"/>
                          </a:rPr>
                        </m:ctrlPr>
                      </m:sSubPr>
                      <m:e>
                        <m:r>
                          <a:rPr lang="en-GB" i="1">
                            <a:latin typeface="Cambria Math"/>
                          </a:rPr>
                          <m:t>𝑌</m:t>
                        </m:r>
                      </m:e>
                      <m:sub>
                        <m:r>
                          <a:rPr lang="en-GB" i="1">
                            <a:latin typeface="Cambria Math"/>
                          </a:rPr>
                          <m:t>𝑠</m:t>
                        </m:r>
                        <m:r>
                          <a:rPr lang="en-GB" i="1">
                            <a:latin typeface="Cambria Math"/>
                          </a:rPr>
                          <m:t>,</m:t>
                        </m:r>
                        <m:r>
                          <a:rPr lang="en-GB" i="1">
                            <a:latin typeface="Cambria Math"/>
                          </a:rPr>
                          <m:t>𝑝</m:t>
                        </m:r>
                      </m:sub>
                    </m:sSub>
                    <m:r>
                      <a:rPr lang="en-GB" i="1">
                        <a:latin typeface="Cambria Math"/>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a:rPr>
                              <m:t>𝑟</m:t>
                            </m:r>
                          </m:e>
                          <m:sub>
                            <m:r>
                              <a:rPr lang="en-GB" i="1">
                                <a:latin typeface="Cambria Math"/>
                              </a:rPr>
                              <m:t>𝑝</m:t>
                            </m:r>
                          </m:sub>
                        </m:sSub>
                      </m:num>
                      <m:den>
                        <m:sSub>
                          <m:sSubPr>
                            <m:ctrlPr>
                              <a:rPr lang="en-GB" i="1">
                                <a:latin typeface="Cambria Math" panose="02040503050406030204" pitchFamily="18" charset="0"/>
                              </a:rPr>
                            </m:ctrlPr>
                          </m:sSubPr>
                          <m:e>
                            <m:r>
                              <a:rPr lang="en-GB" i="1">
                                <a:latin typeface="Cambria Math"/>
                              </a:rPr>
                              <m:t>𝑟</m:t>
                            </m:r>
                          </m:e>
                          <m:sub>
                            <m:r>
                              <a:rPr lang="en-GB" i="1">
                                <a:latin typeface="Cambria Math"/>
                              </a:rPr>
                              <m:t>𝑠</m:t>
                            </m:r>
                          </m:sub>
                        </m:sSub>
                      </m:den>
                    </m:f>
                  </m:oMath>
                </a14:m>
                <a:endParaRPr lang="en-GB" i="1"/>
              </a:p>
              <a:p>
                <a:endParaRPr lang="en-GB"/>
              </a:p>
              <a:p>
                <a:r>
                  <a:rPr lang="en-GB"/>
                  <a:t>PHB per glucose: </a:t>
                </a:r>
                <a14:m>
                  <m:oMath xmlns:m="http://schemas.openxmlformats.org/officeDocument/2006/math">
                    <m:sSub>
                      <m:sSubPr>
                        <m:ctrlPr>
                          <a:rPr lang="en-GB" i="1">
                            <a:latin typeface="Cambria Math" panose="02040503050406030204" pitchFamily="18" charset="0"/>
                          </a:rPr>
                        </m:ctrlPr>
                      </m:sSubPr>
                      <m:e>
                        <m:r>
                          <a:rPr lang="en-GB" i="1">
                            <a:latin typeface="Cambria Math"/>
                          </a:rPr>
                          <m:t>𝑌</m:t>
                        </m:r>
                      </m:e>
                      <m:sub>
                        <m:r>
                          <a:rPr lang="sv-SE" b="0" i="1" smtClean="0">
                            <a:latin typeface="Cambria Math" panose="02040503050406030204" pitchFamily="18" charset="0"/>
                          </a:rPr>
                          <m:t>𝑔𝑙𝑢𝑐𝑜𝑠𝑒</m:t>
                        </m:r>
                        <m:r>
                          <a:rPr lang="sv-SE" b="0" i="1" smtClean="0">
                            <a:latin typeface="Cambria Math" panose="02040503050406030204" pitchFamily="18" charset="0"/>
                          </a:rPr>
                          <m:t>,</m:t>
                        </m:r>
                        <m:r>
                          <a:rPr lang="sv-SE" b="0" i="1" smtClean="0">
                            <a:latin typeface="Cambria Math" panose="02040503050406030204" pitchFamily="18" charset="0"/>
                          </a:rPr>
                          <m:t>𝑃𝐻𝐵</m:t>
                        </m:r>
                      </m:sub>
                    </m:sSub>
                    <m:r>
                      <a:rPr lang="en-GB" i="1">
                        <a:latin typeface="Cambria Math"/>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a:rPr>
                              <m:t>𝑟</m:t>
                            </m:r>
                          </m:e>
                          <m:sub>
                            <m:r>
                              <a:rPr lang="sv-SE" b="0" i="1" smtClean="0">
                                <a:latin typeface="Cambria Math" panose="02040503050406030204" pitchFamily="18" charset="0"/>
                              </a:rPr>
                              <m:t>𝑃𝐻𝐵</m:t>
                            </m:r>
                          </m:sub>
                        </m:sSub>
                      </m:num>
                      <m:den>
                        <m:sSub>
                          <m:sSubPr>
                            <m:ctrlPr>
                              <a:rPr lang="en-GB" i="1">
                                <a:latin typeface="Cambria Math" panose="02040503050406030204" pitchFamily="18" charset="0"/>
                              </a:rPr>
                            </m:ctrlPr>
                          </m:sSubPr>
                          <m:e>
                            <m:r>
                              <a:rPr lang="en-GB" i="1">
                                <a:latin typeface="Cambria Math"/>
                              </a:rPr>
                              <m:t>𝑟</m:t>
                            </m:r>
                          </m:e>
                          <m:sub>
                            <m:r>
                              <a:rPr lang="sv-SE" b="0" i="1" smtClean="0">
                                <a:latin typeface="Cambria Math" panose="02040503050406030204" pitchFamily="18" charset="0"/>
                              </a:rPr>
                              <m:t>𝑔𝑙𝑢𝑐𝑜𝑠𝑒</m:t>
                            </m:r>
                          </m:sub>
                        </m:sSub>
                      </m:den>
                    </m:f>
                  </m:oMath>
                </a14:m>
                <a:endParaRPr lang="en-GB"/>
              </a:p>
              <a:p>
                <a:endParaRPr lang="en-GB"/>
              </a:p>
              <a:p>
                <a:r>
                  <a:rPr lang="en-GB"/>
                  <a:t>ATP yield: how much ATP is generated per glucose consumed?</a:t>
                </a:r>
              </a:p>
              <a:p>
                <a:endParaRPr lang="en-GB"/>
              </a:p>
              <a:p>
                <a:endParaRPr lang="en-GB"/>
              </a:p>
            </p:txBody>
          </p:sp>
        </mc:Choice>
        <mc:Fallback>
          <p:sp>
            <p:nvSpPr>
              <p:cNvPr id="2" name="Content Placeholder 1">
                <a:extLst>
                  <a:ext uri="{FF2B5EF4-FFF2-40B4-BE49-F238E27FC236}">
                    <a16:creationId xmlns:a16="http://schemas.microsoft.com/office/drawing/2014/main" id="{C1F095BC-F573-432F-8CF6-CEE8F0AAB396}"/>
                  </a:ext>
                </a:extLst>
              </p:cNvPr>
              <p:cNvSpPr>
                <a:spLocks noGrp="1" noRot="1" noChangeAspect="1" noMove="1" noResize="1" noEditPoints="1" noAdjustHandles="1" noChangeArrowheads="1" noChangeShapeType="1" noTextEdit="1"/>
              </p:cNvSpPr>
              <p:nvPr>
                <p:ph idx="1"/>
              </p:nvPr>
            </p:nvSpPr>
            <p:spPr>
              <a:blipFill>
                <a:blip r:embed="rId2"/>
                <a:stretch>
                  <a:fillRect l="-990" t="-829"/>
                </a:stretch>
              </a:blipFill>
            </p:spPr>
            <p:txBody>
              <a:bodyPr/>
              <a:lstStyle/>
              <a:p>
                <a:r>
                  <a:rPr lang="en-GB">
                    <a:noFill/>
                  </a:rPr>
                  <a:t> </a:t>
                </a:r>
              </a:p>
            </p:txBody>
          </p:sp>
        </mc:Fallback>
      </mc:AlternateContent>
      <p:sp>
        <p:nvSpPr>
          <p:cNvPr id="3" name="Title 2">
            <a:extLst>
              <a:ext uri="{FF2B5EF4-FFF2-40B4-BE49-F238E27FC236}">
                <a16:creationId xmlns:a16="http://schemas.microsoft.com/office/drawing/2014/main" id="{7201199C-1F85-4C6A-9B33-4BD2D386F639}"/>
              </a:ext>
            </a:extLst>
          </p:cNvPr>
          <p:cNvSpPr>
            <a:spLocks noGrp="1"/>
          </p:cNvSpPr>
          <p:nvPr>
            <p:ph type="title"/>
          </p:nvPr>
        </p:nvSpPr>
        <p:spPr/>
        <p:txBody>
          <a:bodyPr/>
          <a:lstStyle/>
          <a:p>
            <a:r>
              <a:rPr lang="en-GB"/>
              <a:t>Yield coefficient</a:t>
            </a:r>
          </a:p>
        </p:txBody>
      </p:sp>
    </p:spTree>
    <p:extLst>
      <p:ext uri="{BB962C8B-B14F-4D97-AF65-F5344CB8AC3E}">
        <p14:creationId xmlns:p14="http://schemas.microsoft.com/office/powerpoint/2010/main" val="3802136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0AEB98-F3FA-4EA1-9EFB-FD7983ABC8BB}"/>
              </a:ext>
            </a:extLst>
          </p:cNvPr>
          <p:cNvSpPr>
            <a:spLocks noGrp="1"/>
          </p:cNvSpPr>
          <p:nvPr>
            <p:ph type="title"/>
          </p:nvPr>
        </p:nvSpPr>
        <p:spPr/>
        <p:txBody>
          <a:bodyPr/>
          <a:lstStyle/>
          <a:p>
            <a:r>
              <a:rPr lang="en-GB"/>
              <a:t>Monod: constant yield</a:t>
            </a:r>
          </a:p>
        </p:txBody>
      </p:sp>
      <mc:AlternateContent xmlns:mc="http://schemas.openxmlformats.org/markup-compatibility/2006">
        <mc:Choice xmlns:a14="http://schemas.microsoft.com/office/drawing/2010/main" Requires="a14">
          <p:sp>
            <p:nvSpPr>
              <p:cNvPr id="4" name="Content Placeholder 1">
                <a:extLst>
                  <a:ext uri="{FF2B5EF4-FFF2-40B4-BE49-F238E27FC236}">
                    <a16:creationId xmlns:a16="http://schemas.microsoft.com/office/drawing/2014/main" id="{C8B352EF-BBA7-4C6E-87AB-3D00B0DD2719}"/>
                  </a:ext>
                </a:extLst>
              </p:cNvPr>
              <p:cNvSpPr txBox="1">
                <a:spLocks/>
              </p:cNvSpPr>
              <p:nvPr/>
            </p:nvSpPr>
            <p:spPr>
              <a:xfrm>
                <a:off x="457200" y="965200"/>
                <a:ext cx="4814633" cy="5160963"/>
              </a:xfrm>
              <a:prstGeom prst="rect">
                <a:avLst/>
              </a:prstGeom>
            </p:spPr>
            <p:txBody>
              <a:bodyPr/>
              <a:lstStyle>
                <a:lvl1pPr marL="342900" indent="-342900" algn="l" defTabSz="457200" rtl="0" eaLnBrk="1" latinLnBrk="0" hangingPunct="1">
                  <a:spcBef>
                    <a:spcPct val="20000"/>
                  </a:spcBef>
                  <a:buFont typeface="Arial"/>
                  <a:buChar char="•"/>
                  <a:defRPr sz="2400" kern="1200">
                    <a:solidFill>
                      <a:schemeClr val="tx1"/>
                    </a:solidFill>
                    <a:latin typeface="Calibri" panose="020F0502020204030204" pitchFamily="34" charset="0"/>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Calibri" panose="020F0502020204030204" pitchFamily="34" charset="0"/>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Calibri" panose="020F0502020204030204" pitchFamily="34" charset="0"/>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Calibri" panose="020F0502020204030204" pitchFamily="34" charset="0"/>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Calibri" panose="020F0502020204030204" pitchFamily="34" charset="0"/>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dirty="0"/>
                  <a:t>Jacques Monod (1942): yield is constant at different growth rates</a:t>
                </a:r>
              </a:p>
              <a:p>
                <a:endParaRPr lang="en-GB" dirty="0"/>
              </a:p>
              <a:p>
                <a14:m>
                  <m:oMath xmlns:m="http://schemas.openxmlformats.org/officeDocument/2006/math">
                    <m:sSub>
                      <m:sSubPr>
                        <m:ctrlPr>
                          <a:rPr lang="en-GB" i="1">
                            <a:latin typeface="Cambria Math" panose="02040503050406030204" pitchFamily="18" charset="0"/>
                          </a:rPr>
                        </m:ctrlPr>
                      </m:sSubPr>
                      <m:e>
                        <m:r>
                          <a:rPr lang="en-GB" i="1">
                            <a:latin typeface="Cambria Math"/>
                          </a:rPr>
                          <m:t>𝑌</m:t>
                        </m:r>
                      </m:e>
                      <m:sub>
                        <m:r>
                          <a:rPr lang="en-GB" i="1">
                            <a:latin typeface="Cambria Math"/>
                          </a:rPr>
                          <m:t>𝑠</m:t>
                        </m:r>
                        <m:r>
                          <a:rPr lang="en-GB" i="1">
                            <a:latin typeface="Cambria Math"/>
                          </a:rPr>
                          <m:t>,</m:t>
                        </m:r>
                        <m:r>
                          <a:rPr lang="en-GB" i="1">
                            <a:latin typeface="Cambria Math"/>
                          </a:rPr>
                          <m:t>𝑥</m:t>
                        </m:r>
                      </m:sub>
                    </m:sSub>
                    <m:r>
                      <a:rPr lang="en-GB" i="1">
                        <a:latin typeface="Cambria Math"/>
                      </a:rPr>
                      <m:t>=</m:t>
                    </m:r>
                    <m:f>
                      <m:fPr>
                        <m:ctrlPr>
                          <a:rPr lang="en-GB" i="1">
                            <a:latin typeface="Cambria Math" panose="02040503050406030204" pitchFamily="18" charset="0"/>
                          </a:rPr>
                        </m:ctrlPr>
                      </m:fPr>
                      <m:num>
                        <m:r>
                          <a:rPr lang="en-GB" i="1">
                            <a:latin typeface="Cambria Math"/>
                            <a:ea typeface="Cambria Math"/>
                          </a:rPr>
                          <m:t>𝜇</m:t>
                        </m:r>
                      </m:num>
                      <m:den>
                        <m:sSub>
                          <m:sSubPr>
                            <m:ctrlPr>
                              <a:rPr lang="en-GB" i="1">
                                <a:latin typeface="Cambria Math" panose="02040503050406030204" pitchFamily="18" charset="0"/>
                              </a:rPr>
                            </m:ctrlPr>
                          </m:sSubPr>
                          <m:e>
                            <m:r>
                              <a:rPr lang="en-GB" i="1">
                                <a:latin typeface="Cambria Math"/>
                              </a:rPr>
                              <m:t>𝑟</m:t>
                            </m:r>
                          </m:e>
                          <m:sub>
                            <m:r>
                              <a:rPr lang="en-GB" i="1">
                                <a:latin typeface="Cambria Math"/>
                              </a:rPr>
                              <m:t>𝑠</m:t>
                            </m:r>
                          </m:sub>
                        </m:sSub>
                      </m:den>
                    </m:f>
                  </m:oMath>
                </a14:m>
                <a:endParaRPr lang="en-GB" dirty="0"/>
              </a:p>
              <a:p>
                <a:endParaRPr lang="en-GB" dirty="0"/>
              </a:p>
              <a:p>
                <a14:m>
                  <m:oMath xmlns:m="http://schemas.openxmlformats.org/officeDocument/2006/math">
                    <m:sSub>
                      <m:sSubPr>
                        <m:ctrlPr>
                          <a:rPr lang="en-GB" i="1">
                            <a:latin typeface="Cambria Math" panose="02040503050406030204" pitchFamily="18" charset="0"/>
                          </a:rPr>
                        </m:ctrlPr>
                      </m:sSubPr>
                      <m:e>
                        <m:r>
                          <a:rPr lang="en-GB" i="1">
                            <a:latin typeface="Cambria Math"/>
                          </a:rPr>
                          <m:t>𝑌</m:t>
                        </m:r>
                      </m:e>
                      <m:sub>
                        <m:r>
                          <a:rPr lang="en-GB" i="1" smtClean="0">
                            <a:latin typeface="Cambria Math"/>
                          </a:rPr>
                          <m:t>𝑥</m:t>
                        </m:r>
                        <m:r>
                          <a:rPr lang="en-GB" i="1">
                            <a:latin typeface="Cambria Math"/>
                          </a:rPr>
                          <m:t>,</m:t>
                        </m:r>
                        <m:r>
                          <a:rPr lang="en-GB" i="1" smtClean="0">
                            <a:latin typeface="Cambria Math"/>
                          </a:rPr>
                          <m:t>𝐴𝑇𝑃</m:t>
                        </m:r>
                      </m:sub>
                    </m:sSub>
                    <m:r>
                      <a:rPr lang="en-GB" i="1">
                        <a:latin typeface="Cambria Math"/>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a:rPr>
                              <m:t>𝑟</m:t>
                            </m:r>
                          </m:e>
                          <m:sub>
                            <m:r>
                              <a:rPr lang="en-GB" i="1" smtClean="0">
                                <a:latin typeface="Cambria Math"/>
                              </a:rPr>
                              <m:t>𝐴𝑇𝑃</m:t>
                            </m:r>
                          </m:sub>
                        </m:sSub>
                      </m:num>
                      <m:den>
                        <m:r>
                          <a:rPr lang="en-GB" i="1">
                            <a:latin typeface="Cambria Math"/>
                            <a:ea typeface="Cambria Math"/>
                          </a:rPr>
                          <m:t>𝜇</m:t>
                        </m:r>
                      </m:den>
                    </m:f>
                  </m:oMath>
                </a14:m>
                <a:endParaRPr lang="en-GB">
                  <a:ea typeface="Cambria Math"/>
                </a:endParaRPr>
              </a:p>
              <a:p>
                <a:endParaRPr lang="en-GB"/>
              </a:p>
              <a:p>
                <a:r>
                  <a:rPr lang="en-GB"/>
                  <a:t>Very low growth rates</a:t>
                </a:r>
                <a:endParaRPr lang="en-GB" dirty="0"/>
              </a:p>
              <a:p>
                <a:endParaRPr lang="en-GB" dirty="0"/>
              </a:p>
              <a:p>
                <a:endParaRPr lang="en-GB" dirty="0"/>
              </a:p>
              <a:p>
                <a:pPr marL="0" indent="0">
                  <a:buFont typeface="Arial"/>
                  <a:buNone/>
                </a:pPr>
                <a:endParaRPr lang="en-GB" dirty="0"/>
              </a:p>
              <a:p>
                <a:endParaRPr lang="en-GB" dirty="0"/>
              </a:p>
            </p:txBody>
          </p:sp>
        </mc:Choice>
        <mc:Fallback>
          <p:sp>
            <p:nvSpPr>
              <p:cNvPr id="4" name="Content Placeholder 1">
                <a:extLst>
                  <a:ext uri="{FF2B5EF4-FFF2-40B4-BE49-F238E27FC236}">
                    <a16:creationId xmlns:a16="http://schemas.microsoft.com/office/drawing/2014/main" id="{C8B352EF-BBA7-4C6E-87AB-3D00B0DD2719}"/>
                  </a:ext>
                </a:extLst>
              </p:cNvPr>
              <p:cNvSpPr txBox="1">
                <a:spLocks noRot="1" noChangeAspect="1" noMove="1" noResize="1" noEditPoints="1" noAdjustHandles="1" noChangeArrowheads="1" noChangeShapeType="1" noTextEdit="1"/>
              </p:cNvSpPr>
              <p:nvPr/>
            </p:nvSpPr>
            <p:spPr>
              <a:xfrm>
                <a:off x="457200" y="965200"/>
                <a:ext cx="4814633" cy="5160963"/>
              </a:xfrm>
              <a:prstGeom prst="rect">
                <a:avLst/>
              </a:prstGeom>
              <a:blipFill>
                <a:blip r:embed="rId2"/>
                <a:stretch>
                  <a:fillRect l="-1646" t="-945"/>
                </a:stretch>
              </a:blipFill>
            </p:spPr>
            <p:txBody>
              <a:bodyPr/>
              <a:lstStyle/>
              <a:p>
                <a:r>
                  <a:rPr lang="en-GB">
                    <a:noFill/>
                  </a:rPr>
                  <a:t> </a:t>
                </a:r>
              </a:p>
            </p:txBody>
          </p:sp>
        </mc:Fallback>
      </mc:AlternateContent>
      <p:cxnSp>
        <p:nvCxnSpPr>
          <p:cNvPr id="5" name="Straight Connector 4">
            <a:extLst>
              <a:ext uri="{FF2B5EF4-FFF2-40B4-BE49-F238E27FC236}">
                <a16:creationId xmlns:a16="http://schemas.microsoft.com/office/drawing/2014/main" id="{583EFA50-2E20-4EDD-80AE-1C40EADB7E03}"/>
              </a:ext>
            </a:extLst>
          </p:cNvPr>
          <p:cNvCxnSpPr/>
          <p:nvPr/>
        </p:nvCxnSpPr>
        <p:spPr>
          <a:xfrm flipV="1">
            <a:off x="4618842" y="3339573"/>
            <a:ext cx="3333750" cy="2305050"/>
          </a:xfrm>
          <a:prstGeom prst="line">
            <a:avLst/>
          </a:prstGeom>
        </p:spPr>
        <p:style>
          <a:lnRef idx="3">
            <a:schemeClr val="accent2"/>
          </a:lnRef>
          <a:fillRef idx="0">
            <a:schemeClr val="accent2"/>
          </a:fillRef>
          <a:effectRef idx="2">
            <a:schemeClr val="accent2"/>
          </a:effectRef>
          <a:fontRef idx="minor">
            <a:schemeClr val="tx1"/>
          </a:fontRef>
        </p:style>
      </p:cxnSp>
      <p:pic>
        <p:nvPicPr>
          <p:cNvPr id="6" name="Picture 4" descr="http://www.mun.ca/biology/scarr/4242aac_monod.gif">
            <a:extLst>
              <a:ext uri="{FF2B5EF4-FFF2-40B4-BE49-F238E27FC236}">
                <a16:creationId xmlns:a16="http://schemas.microsoft.com/office/drawing/2014/main" id="{E96C1126-0BAA-4B78-8B25-77D74783D71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363966" y="822297"/>
            <a:ext cx="1385729" cy="1564533"/>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CA9C834B-4D58-4897-8A9D-B4E1AE2ED51B}"/>
              </a:ext>
            </a:extLst>
          </p:cNvPr>
          <p:cNvCxnSpPr/>
          <p:nvPr/>
        </p:nvCxnSpPr>
        <p:spPr>
          <a:xfrm flipV="1">
            <a:off x="4618842" y="3077028"/>
            <a:ext cx="0" cy="25675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59288851-837F-4053-A521-348FA198D184}"/>
              </a:ext>
            </a:extLst>
          </p:cNvPr>
          <p:cNvCxnSpPr/>
          <p:nvPr/>
        </p:nvCxnSpPr>
        <p:spPr>
          <a:xfrm>
            <a:off x="4618842" y="5644624"/>
            <a:ext cx="359028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1">
            <a:extLst>
              <a:ext uri="{FF2B5EF4-FFF2-40B4-BE49-F238E27FC236}">
                <a16:creationId xmlns:a16="http://schemas.microsoft.com/office/drawing/2014/main" id="{3DD65D4B-9924-4FCE-A30C-9A711BCB016A}"/>
              </a:ext>
            </a:extLst>
          </p:cNvPr>
          <p:cNvSpPr txBox="1">
            <a:spLocks/>
          </p:cNvSpPr>
          <p:nvPr/>
        </p:nvSpPr>
        <p:spPr>
          <a:xfrm>
            <a:off x="6685251" y="5663406"/>
            <a:ext cx="2064444" cy="511415"/>
          </a:xfrm>
          <a:prstGeom prst="rect">
            <a:avLst/>
          </a:prstGeom>
        </p:spPr>
        <p:txBody>
          <a:bodyPr/>
          <a:lstStyle>
            <a:lvl1pPr marL="342900" indent="-342900" algn="l" defTabSz="457200" rtl="0" eaLnBrk="1" latinLnBrk="0" hangingPunct="1">
              <a:spcBef>
                <a:spcPct val="20000"/>
              </a:spcBef>
              <a:buFont typeface="Arial"/>
              <a:buChar char="•"/>
              <a:defRPr sz="2000" kern="1200">
                <a:solidFill>
                  <a:schemeClr val="tx1"/>
                </a:solidFill>
                <a:latin typeface="Calibri" panose="020F0502020204030204" pitchFamily="34" charset="0"/>
                <a:ea typeface="+mn-ea"/>
                <a:cs typeface="Arial"/>
              </a:defRPr>
            </a:lvl1pPr>
            <a:lvl2pPr marL="742950" indent="-285750" algn="l" defTabSz="457200" rtl="0" eaLnBrk="1" latinLnBrk="0" hangingPunct="1">
              <a:spcBef>
                <a:spcPct val="20000"/>
              </a:spcBef>
              <a:buFont typeface="Arial"/>
              <a:buChar char="–"/>
              <a:defRPr sz="1800" kern="1200">
                <a:solidFill>
                  <a:schemeClr val="tx1"/>
                </a:solidFill>
                <a:latin typeface="Calibri" panose="020F0502020204030204" pitchFamily="34" charset="0"/>
                <a:ea typeface="+mn-ea"/>
                <a:cs typeface="Arial"/>
              </a:defRPr>
            </a:lvl2pPr>
            <a:lvl3pPr marL="1143000" indent="-228600" algn="l" defTabSz="457200" rtl="0" eaLnBrk="1" latinLnBrk="0" hangingPunct="1">
              <a:spcBef>
                <a:spcPct val="20000"/>
              </a:spcBef>
              <a:buFont typeface="Arial"/>
              <a:buChar char="•"/>
              <a:defRPr sz="1600" kern="1200">
                <a:solidFill>
                  <a:schemeClr val="tx1"/>
                </a:solidFill>
                <a:latin typeface="Calibri" panose="020F0502020204030204" pitchFamily="34" charset="0"/>
                <a:ea typeface="+mn-ea"/>
                <a:cs typeface="Arial"/>
              </a:defRPr>
            </a:lvl3pPr>
            <a:lvl4pPr marL="1600200" indent="-228600" algn="l" defTabSz="457200" rtl="0" eaLnBrk="1" latinLnBrk="0" hangingPunct="1">
              <a:spcBef>
                <a:spcPct val="20000"/>
              </a:spcBef>
              <a:buFont typeface="Arial"/>
              <a:buChar char="–"/>
              <a:defRPr sz="1400" kern="1200">
                <a:solidFill>
                  <a:schemeClr val="tx1"/>
                </a:solidFill>
                <a:latin typeface="Calibri" panose="020F0502020204030204" pitchFamily="34" charset="0"/>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Calibri" panose="020F0502020204030204" pitchFamily="34" charset="0"/>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a:t>Growth rate </a:t>
            </a:r>
            <a:r>
              <a:rPr lang="el-GR"/>
              <a:t>μ</a:t>
            </a:r>
            <a:endParaRPr lang="en-GB" dirty="0"/>
          </a:p>
          <a:p>
            <a:endParaRPr lang="en-GB" dirty="0"/>
          </a:p>
          <a:p>
            <a:pPr marL="0" indent="0">
              <a:buFont typeface="Arial"/>
              <a:buNone/>
            </a:pPr>
            <a:endParaRPr lang="en-GB" dirty="0"/>
          </a:p>
          <a:p>
            <a:endParaRPr lang="en-GB" dirty="0"/>
          </a:p>
        </p:txBody>
      </p:sp>
      <p:sp>
        <p:nvSpPr>
          <p:cNvPr id="10" name="Content Placeholder 1">
            <a:extLst>
              <a:ext uri="{FF2B5EF4-FFF2-40B4-BE49-F238E27FC236}">
                <a16:creationId xmlns:a16="http://schemas.microsoft.com/office/drawing/2014/main" id="{40965561-2D8E-4D6E-8E56-93F67F019F9D}"/>
              </a:ext>
            </a:extLst>
          </p:cNvPr>
          <p:cNvSpPr txBox="1">
            <a:spLocks/>
          </p:cNvSpPr>
          <p:nvPr/>
        </p:nvSpPr>
        <p:spPr>
          <a:xfrm rot="16200000">
            <a:off x="3230971" y="3942263"/>
            <a:ext cx="2064444" cy="511415"/>
          </a:xfrm>
          <a:prstGeom prst="rect">
            <a:avLst/>
          </a:prstGeom>
        </p:spPr>
        <p:txBody>
          <a:bodyPr/>
          <a:lstStyle>
            <a:lvl1pPr marL="342900" indent="-342900" algn="l" defTabSz="457200" rtl="0" eaLnBrk="1" latinLnBrk="0" hangingPunct="1">
              <a:spcBef>
                <a:spcPct val="20000"/>
              </a:spcBef>
              <a:buFont typeface="Arial"/>
              <a:buChar char="•"/>
              <a:defRPr sz="2000" kern="1200">
                <a:solidFill>
                  <a:schemeClr val="tx1"/>
                </a:solidFill>
                <a:latin typeface="Calibri" panose="020F0502020204030204" pitchFamily="34" charset="0"/>
                <a:ea typeface="+mn-ea"/>
                <a:cs typeface="Arial"/>
              </a:defRPr>
            </a:lvl1pPr>
            <a:lvl2pPr marL="742950" indent="-285750" algn="l" defTabSz="457200" rtl="0" eaLnBrk="1" latinLnBrk="0" hangingPunct="1">
              <a:spcBef>
                <a:spcPct val="20000"/>
              </a:spcBef>
              <a:buFont typeface="Arial"/>
              <a:buChar char="–"/>
              <a:defRPr sz="1800" kern="1200">
                <a:solidFill>
                  <a:schemeClr val="tx1"/>
                </a:solidFill>
                <a:latin typeface="Calibri" panose="020F0502020204030204" pitchFamily="34" charset="0"/>
                <a:ea typeface="+mn-ea"/>
                <a:cs typeface="Arial"/>
              </a:defRPr>
            </a:lvl2pPr>
            <a:lvl3pPr marL="1143000" indent="-228600" algn="l" defTabSz="457200" rtl="0" eaLnBrk="1" latinLnBrk="0" hangingPunct="1">
              <a:spcBef>
                <a:spcPct val="20000"/>
              </a:spcBef>
              <a:buFont typeface="Arial"/>
              <a:buChar char="•"/>
              <a:defRPr sz="1600" kern="1200">
                <a:solidFill>
                  <a:schemeClr val="tx1"/>
                </a:solidFill>
                <a:latin typeface="Calibri" panose="020F0502020204030204" pitchFamily="34" charset="0"/>
                <a:ea typeface="+mn-ea"/>
                <a:cs typeface="Arial"/>
              </a:defRPr>
            </a:lvl3pPr>
            <a:lvl4pPr marL="1600200" indent="-228600" algn="l" defTabSz="457200" rtl="0" eaLnBrk="1" latinLnBrk="0" hangingPunct="1">
              <a:spcBef>
                <a:spcPct val="20000"/>
              </a:spcBef>
              <a:buFont typeface="Arial"/>
              <a:buChar char="–"/>
              <a:defRPr sz="1400" kern="1200">
                <a:solidFill>
                  <a:schemeClr val="tx1"/>
                </a:solidFill>
                <a:latin typeface="Calibri" panose="020F0502020204030204" pitchFamily="34" charset="0"/>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Calibri" panose="020F0502020204030204" pitchFamily="34" charset="0"/>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a:t>r</a:t>
            </a:r>
            <a:r>
              <a:rPr lang="en-GB" baseline="-25000"/>
              <a:t>s</a:t>
            </a:r>
            <a:r>
              <a:rPr lang="en-GB"/>
              <a:t> or r</a:t>
            </a:r>
            <a:r>
              <a:rPr lang="en-GB" baseline="-25000"/>
              <a:t>ATP</a:t>
            </a:r>
            <a:endParaRPr lang="en-GB" baseline="-25000" dirty="0"/>
          </a:p>
          <a:p>
            <a:endParaRPr lang="en-GB" dirty="0"/>
          </a:p>
          <a:p>
            <a:pPr marL="0" indent="0">
              <a:buFont typeface="Arial"/>
              <a:buNone/>
            </a:pPr>
            <a:endParaRPr lang="en-GB" dirty="0"/>
          </a:p>
          <a:p>
            <a:endParaRPr lang="en-GB" dirty="0"/>
          </a:p>
        </p:txBody>
      </p:sp>
    </p:spTree>
    <p:extLst>
      <p:ext uri="{BB962C8B-B14F-4D97-AF65-F5344CB8AC3E}">
        <p14:creationId xmlns:p14="http://schemas.microsoft.com/office/powerpoint/2010/main" val="284514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AB8665-4E69-4E9A-B5D1-95F2BE9C073F}"/>
              </a:ext>
            </a:extLst>
          </p:cNvPr>
          <p:cNvSpPr>
            <a:spLocks noGrp="1"/>
          </p:cNvSpPr>
          <p:nvPr>
            <p:ph type="title"/>
          </p:nvPr>
        </p:nvSpPr>
        <p:spPr/>
        <p:txBody>
          <a:bodyPr/>
          <a:lstStyle/>
          <a:p>
            <a:r>
              <a:rPr lang="en-GB"/>
              <a:t>At no growth: still maintenance</a:t>
            </a:r>
          </a:p>
        </p:txBody>
      </p:sp>
      <p:sp>
        <p:nvSpPr>
          <p:cNvPr id="4" name="Content Placeholder 1">
            <a:extLst>
              <a:ext uri="{FF2B5EF4-FFF2-40B4-BE49-F238E27FC236}">
                <a16:creationId xmlns:a16="http://schemas.microsoft.com/office/drawing/2014/main" id="{B65446C4-5561-4398-AFB2-ACDD091BB468}"/>
              </a:ext>
            </a:extLst>
          </p:cNvPr>
          <p:cNvSpPr txBox="1">
            <a:spLocks/>
          </p:cNvSpPr>
          <p:nvPr/>
        </p:nvSpPr>
        <p:spPr>
          <a:xfrm>
            <a:off x="457200" y="965200"/>
            <a:ext cx="4814633" cy="5160963"/>
          </a:xfrm>
          <a:prstGeom prst="rect">
            <a:avLst/>
          </a:prstGeom>
        </p:spPr>
        <p:txBody>
          <a:bodyPr/>
          <a:lstStyle>
            <a:lvl1pPr marL="342900" indent="-342900" algn="l" defTabSz="457200" rtl="0" eaLnBrk="1" latinLnBrk="0" hangingPunct="1">
              <a:spcBef>
                <a:spcPct val="20000"/>
              </a:spcBef>
              <a:buFont typeface="Arial"/>
              <a:buChar char="•"/>
              <a:defRPr sz="2400" kern="1200">
                <a:solidFill>
                  <a:schemeClr val="tx1"/>
                </a:solidFill>
                <a:latin typeface="Calibri" panose="020F0502020204030204" pitchFamily="34" charset="0"/>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Calibri" panose="020F0502020204030204" pitchFamily="34" charset="0"/>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Calibri" panose="020F0502020204030204" pitchFamily="34" charset="0"/>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Calibri" panose="020F0502020204030204" pitchFamily="34" charset="0"/>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Calibri" panose="020F0502020204030204" pitchFamily="34" charset="0"/>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t>Herbert and Luedeking-Pirt (1959): maintenance</a:t>
            </a:r>
          </a:p>
          <a:p>
            <a:pPr marL="0" indent="0">
              <a:buFont typeface="Arial"/>
              <a:buNone/>
            </a:pPr>
            <a:endParaRPr lang="en-GB"/>
          </a:p>
          <a:p>
            <a:endParaRPr lang="en-GB"/>
          </a:p>
          <a:p>
            <a:endParaRPr lang="en-GB"/>
          </a:p>
          <a:p>
            <a:pPr marL="0" indent="0">
              <a:buFont typeface="Arial"/>
              <a:buNone/>
            </a:pPr>
            <a:endParaRPr lang="en-GB"/>
          </a:p>
          <a:p>
            <a:endParaRPr lang="en-GB" dirty="0"/>
          </a:p>
        </p:txBody>
      </p:sp>
      <p:pic>
        <p:nvPicPr>
          <p:cNvPr id="5" name="Picture 2">
            <a:extLst>
              <a:ext uri="{FF2B5EF4-FFF2-40B4-BE49-F238E27FC236}">
                <a16:creationId xmlns:a16="http://schemas.microsoft.com/office/drawing/2014/main" id="{15F47298-49A7-46E3-939D-8788D48ADD7E}"/>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3150505" y="2321908"/>
            <a:ext cx="5981699" cy="3893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a:extLst>
              <a:ext uri="{FF2B5EF4-FFF2-40B4-BE49-F238E27FC236}">
                <a16:creationId xmlns:a16="http://schemas.microsoft.com/office/drawing/2014/main" id="{7B389ACB-82FC-49FE-A23E-446FAD86A4B1}"/>
              </a:ext>
            </a:extLst>
          </p:cNvPr>
          <p:cNvCxnSpPr/>
          <p:nvPr/>
        </p:nvCxnSpPr>
        <p:spPr>
          <a:xfrm flipV="1">
            <a:off x="3764613" y="3320790"/>
            <a:ext cx="3333750" cy="230505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75388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457200" y="965200"/>
                <a:ext cx="5527964" cy="5160963"/>
              </a:xfrm>
            </p:spPr>
            <p:txBody>
              <a:bodyPr/>
              <a:lstStyle/>
              <a:p>
                <a:r>
                  <a:rPr lang="en-GB"/>
                  <a:t>While growth requires energy, also other cellular processes use energy</a:t>
                </a:r>
              </a:p>
              <a:p>
                <a:pPr lvl="1"/>
                <a:r>
                  <a:rPr lang="en-GB"/>
                  <a:t>Maintaining proton gradients</a:t>
                </a:r>
              </a:p>
              <a:p>
                <a:pPr lvl="1"/>
                <a:r>
                  <a:rPr lang="en-GB"/>
                  <a:t>Turnover of RNA</a:t>
                </a:r>
              </a:p>
              <a:p>
                <a:pPr lvl="1"/>
                <a:r>
                  <a:rPr lang="en-GB"/>
                  <a:t>Turnover of protein</a:t>
                </a:r>
              </a:p>
              <a:p>
                <a:pPr lvl="1"/>
                <a:r>
                  <a:rPr lang="en-GB"/>
                  <a:t>...</a:t>
                </a:r>
              </a:p>
              <a:p>
                <a:pPr lvl="1"/>
                <a:endParaRPr lang="en-GB"/>
              </a:p>
              <a:p>
                <a14:m>
                  <m:oMath xmlns:m="http://schemas.openxmlformats.org/officeDocument/2006/math">
                    <m:sSub>
                      <m:sSubPr>
                        <m:ctrlPr>
                          <a:rPr lang="en-GB" i="1">
                            <a:latin typeface="Cambria Math" panose="02040503050406030204" pitchFamily="18" charset="0"/>
                          </a:rPr>
                        </m:ctrlPr>
                      </m:sSubPr>
                      <m:e>
                        <m:r>
                          <a:rPr lang="en-GB" i="1">
                            <a:latin typeface="Cambria Math"/>
                          </a:rPr>
                          <m:t>𝑌</m:t>
                        </m:r>
                      </m:e>
                      <m:sub>
                        <m:r>
                          <a:rPr lang="en-GB" i="1">
                            <a:latin typeface="Cambria Math"/>
                          </a:rPr>
                          <m:t>𝑥</m:t>
                        </m:r>
                        <m:r>
                          <a:rPr lang="en-GB" i="1">
                            <a:latin typeface="Cambria Math"/>
                          </a:rPr>
                          <m:t>,</m:t>
                        </m:r>
                        <m:r>
                          <a:rPr lang="en-GB" i="1">
                            <a:latin typeface="Cambria Math"/>
                          </a:rPr>
                          <m:t>𝐴𝑇𝑃</m:t>
                        </m:r>
                      </m:sub>
                    </m:sSub>
                    <m:r>
                      <a:rPr lang="en-GB" i="1">
                        <a:latin typeface="Cambria Math"/>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a:rPr>
                              <m:t>𝑟</m:t>
                            </m:r>
                          </m:e>
                          <m:sub>
                            <m:r>
                              <a:rPr lang="en-GB" i="1">
                                <a:latin typeface="Cambria Math"/>
                              </a:rPr>
                              <m:t>𝐴𝑇𝑃</m:t>
                            </m:r>
                          </m:sub>
                        </m:sSub>
                      </m:num>
                      <m:den>
                        <m:r>
                          <a:rPr lang="en-GB" i="1">
                            <a:latin typeface="Cambria Math"/>
                            <a:ea typeface="Cambria Math"/>
                          </a:rPr>
                          <m:t>𝜇</m:t>
                        </m:r>
                      </m:den>
                    </m:f>
                  </m:oMath>
                </a14:m>
                <a:endParaRPr lang="en-GB"/>
              </a:p>
              <a:p>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a:rPr>
                          <m:t>𝑟</m:t>
                        </m:r>
                      </m:e>
                      <m:sub>
                        <m:r>
                          <a:rPr lang="en-GB" b="0" i="1" smtClean="0">
                            <a:latin typeface="Cambria Math"/>
                          </a:rPr>
                          <m:t>𝐴𝑇𝑃</m:t>
                        </m:r>
                      </m:sub>
                    </m:sSub>
                    <m:r>
                      <a:rPr lang="en-GB" b="0" i="1" smtClean="0">
                        <a:latin typeface="Cambria Math"/>
                      </a:rPr>
                      <m:t>=</m:t>
                    </m:r>
                    <m:sSub>
                      <m:sSubPr>
                        <m:ctrlPr>
                          <a:rPr lang="en-GB" b="0" i="1" smtClean="0">
                            <a:latin typeface="Cambria Math" panose="02040503050406030204" pitchFamily="18" charset="0"/>
                          </a:rPr>
                        </m:ctrlPr>
                      </m:sSubPr>
                      <m:e>
                        <m:r>
                          <a:rPr lang="en-GB" b="0" i="1" smtClean="0">
                            <a:latin typeface="Cambria Math"/>
                          </a:rPr>
                          <m:t>𝑌</m:t>
                        </m:r>
                      </m:e>
                      <m:sub>
                        <m:r>
                          <a:rPr lang="en-GB" b="0" i="1" smtClean="0">
                            <a:latin typeface="Cambria Math"/>
                          </a:rPr>
                          <m:t>𝑥</m:t>
                        </m:r>
                        <m:r>
                          <a:rPr lang="en-GB" b="0" i="1" smtClean="0">
                            <a:latin typeface="Cambria Math"/>
                          </a:rPr>
                          <m:t>,</m:t>
                        </m:r>
                        <m:r>
                          <a:rPr lang="en-GB" b="0" i="1" smtClean="0">
                            <a:latin typeface="Cambria Math"/>
                          </a:rPr>
                          <m:t>𝐴𝑇𝑃</m:t>
                        </m:r>
                      </m:sub>
                    </m:sSub>
                    <m:r>
                      <a:rPr lang="en-GB" b="0" i="1" smtClean="0">
                        <a:latin typeface="Cambria Math"/>
                        <a:ea typeface="Cambria Math"/>
                      </a:rPr>
                      <m:t>𝜇</m:t>
                    </m:r>
                    <m:r>
                      <a:rPr lang="en-GB" b="0" i="1" smtClean="0">
                        <a:latin typeface="Cambria Math"/>
                        <a:ea typeface="Cambria Math"/>
                      </a:rPr>
                      <m:t>+</m:t>
                    </m:r>
                    <m:sSub>
                      <m:sSubPr>
                        <m:ctrlPr>
                          <a:rPr lang="en-GB" b="0" i="1" smtClean="0">
                            <a:latin typeface="Cambria Math" panose="02040503050406030204" pitchFamily="18" charset="0"/>
                            <a:ea typeface="Cambria Math"/>
                          </a:rPr>
                        </m:ctrlPr>
                      </m:sSubPr>
                      <m:e>
                        <m:r>
                          <a:rPr lang="en-GB" b="0" i="1" smtClean="0">
                            <a:latin typeface="Cambria Math"/>
                            <a:ea typeface="Cambria Math"/>
                          </a:rPr>
                          <m:t>𝑚</m:t>
                        </m:r>
                      </m:e>
                      <m:sub>
                        <m:r>
                          <a:rPr lang="en-GB" b="0" i="1" smtClean="0">
                            <a:latin typeface="Cambria Math"/>
                            <a:ea typeface="Cambria Math"/>
                          </a:rPr>
                          <m:t>𝐴𝑇𝑃</m:t>
                        </m:r>
                      </m:sub>
                    </m:sSub>
                  </m:oMath>
                </a14:m>
                <a:endParaRPr lang="en-GB"/>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457200" y="965200"/>
                <a:ext cx="5527964" cy="5160963"/>
              </a:xfrm>
              <a:blipFill>
                <a:blip r:embed="rId2"/>
                <a:stretch>
                  <a:fillRect l="-1433" t="-945"/>
                </a:stretch>
              </a:blipFill>
            </p:spPr>
            <p:txBody>
              <a:bodyPr/>
              <a:lstStyle/>
              <a:p>
                <a:r>
                  <a:rPr lang="en-GB">
                    <a:noFill/>
                  </a:rPr>
                  <a:t> </a:t>
                </a:r>
              </a:p>
            </p:txBody>
          </p:sp>
        </mc:Fallback>
      </mc:AlternateContent>
      <p:sp>
        <p:nvSpPr>
          <p:cNvPr id="3" name="Title 2"/>
          <p:cNvSpPr>
            <a:spLocks noGrp="1"/>
          </p:cNvSpPr>
          <p:nvPr>
            <p:ph type="title"/>
          </p:nvPr>
        </p:nvSpPr>
        <p:spPr/>
        <p:txBody>
          <a:bodyPr/>
          <a:lstStyle/>
          <a:p>
            <a:r>
              <a:rPr lang="en-GB"/>
              <a:t>Maintenance energy</a:t>
            </a:r>
          </a:p>
        </p:txBody>
      </p:sp>
    </p:spTree>
    <p:extLst>
      <p:ext uri="{BB962C8B-B14F-4D97-AF65-F5344CB8AC3E}">
        <p14:creationId xmlns:p14="http://schemas.microsoft.com/office/powerpoint/2010/main" val="1490679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14:m>
                  <m:oMath xmlns:m="http://schemas.openxmlformats.org/officeDocument/2006/math">
                    <m:sSub>
                      <m:sSubPr>
                        <m:ctrlPr>
                          <a:rPr lang="en-GB" i="1" smtClean="0">
                            <a:latin typeface="Cambria Math" panose="02040503050406030204" pitchFamily="18" charset="0"/>
                          </a:rPr>
                        </m:ctrlPr>
                      </m:sSubPr>
                      <m:e>
                        <m:r>
                          <a:rPr lang="en-GB" i="1">
                            <a:latin typeface="Cambria Math"/>
                          </a:rPr>
                          <m:t>𝑟</m:t>
                        </m:r>
                      </m:e>
                      <m:sub>
                        <m:r>
                          <a:rPr lang="en-GB" i="1">
                            <a:latin typeface="Cambria Math"/>
                          </a:rPr>
                          <m:t>𝐴𝑇𝑃</m:t>
                        </m:r>
                      </m:sub>
                    </m:sSub>
                    <m:r>
                      <a:rPr lang="en-GB" i="1">
                        <a:latin typeface="Cambria Math"/>
                      </a:rPr>
                      <m:t>=</m:t>
                    </m:r>
                    <m:sSub>
                      <m:sSubPr>
                        <m:ctrlPr>
                          <a:rPr lang="en-GB" i="1">
                            <a:latin typeface="Cambria Math" panose="02040503050406030204" pitchFamily="18" charset="0"/>
                          </a:rPr>
                        </m:ctrlPr>
                      </m:sSubPr>
                      <m:e>
                        <m:r>
                          <a:rPr lang="en-GB" i="1">
                            <a:latin typeface="Cambria Math"/>
                          </a:rPr>
                          <m:t>𝑌</m:t>
                        </m:r>
                      </m:e>
                      <m:sub>
                        <m:r>
                          <a:rPr lang="en-GB" i="1">
                            <a:latin typeface="Cambria Math"/>
                          </a:rPr>
                          <m:t>𝑥</m:t>
                        </m:r>
                        <m:r>
                          <a:rPr lang="en-GB" i="1">
                            <a:latin typeface="Cambria Math"/>
                          </a:rPr>
                          <m:t>,</m:t>
                        </m:r>
                        <m:r>
                          <a:rPr lang="en-GB" i="1">
                            <a:latin typeface="Cambria Math"/>
                          </a:rPr>
                          <m:t>𝐴𝑇𝑃</m:t>
                        </m:r>
                      </m:sub>
                    </m:sSub>
                    <m:r>
                      <a:rPr lang="en-GB" i="1">
                        <a:latin typeface="Cambria Math"/>
                        <a:ea typeface="Cambria Math"/>
                      </a:rPr>
                      <m:t>𝜇</m:t>
                    </m:r>
                    <m:r>
                      <a:rPr lang="en-GB" i="1">
                        <a:latin typeface="Cambria Math"/>
                        <a:ea typeface="Cambria Math"/>
                      </a:rPr>
                      <m:t>+</m:t>
                    </m:r>
                    <m:sSub>
                      <m:sSubPr>
                        <m:ctrlPr>
                          <a:rPr lang="en-GB" i="1">
                            <a:latin typeface="Cambria Math" panose="02040503050406030204" pitchFamily="18" charset="0"/>
                            <a:ea typeface="Cambria Math"/>
                          </a:rPr>
                        </m:ctrlPr>
                      </m:sSubPr>
                      <m:e>
                        <m:r>
                          <a:rPr lang="en-GB" i="1">
                            <a:latin typeface="Cambria Math"/>
                            <a:ea typeface="Cambria Math"/>
                          </a:rPr>
                          <m:t>𝑚</m:t>
                        </m:r>
                      </m:e>
                      <m:sub>
                        <m:r>
                          <a:rPr lang="en-GB" i="1">
                            <a:latin typeface="Cambria Math"/>
                            <a:ea typeface="Cambria Math"/>
                          </a:rPr>
                          <m:t>𝐴𝑇𝑃</m:t>
                        </m:r>
                      </m:sub>
                    </m:sSub>
                  </m:oMath>
                </a14:m>
                <a:endParaRPr lang="sv-SE" dirty="0">
                  <a:ea typeface="Cambria Math"/>
                </a:endParaRPr>
              </a:p>
              <a:p>
                <a:endParaRPr lang="sv-SE" dirty="0"/>
              </a:p>
              <a:p>
                <a:r>
                  <a:rPr lang="sv-SE" dirty="0"/>
                  <a:t>D</a:t>
                </a:r>
                <a:r>
                  <a:rPr lang="en-GB" dirty="0" err="1"/>
                  <a:t>ifficult</a:t>
                </a:r>
                <a:r>
                  <a:rPr lang="en-GB" dirty="0"/>
                  <a:t> to measure </a:t>
                </a:r>
                <a:r>
                  <a:rPr lang="en-GB" dirty="0" err="1"/>
                  <a:t>r</a:t>
                </a:r>
                <a:r>
                  <a:rPr lang="en-GB" baseline="-25000" dirty="0" err="1"/>
                  <a:t>ATP</a:t>
                </a:r>
                <a:r>
                  <a:rPr lang="en-GB" dirty="0"/>
                  <a:t> but is linked to </a:t>
                </a:r>
                <a:r>
                  <a:rPr lang="en-GB" dirty="0" err="1"/>
                  <a:t>r</a:t>
                </a:r>
                <a:r>
                  <a:rPr lang="en-GB" baseline="-25000" dirty="0" err="1"/>
                  <a:t>s</a:t>
                </a:r>
                <a:r>
                  <a:rPr lang="en-GB" dirty="0"/>
                  <a:t> </a:t>
                </a:r>
              </a:p>
              <a:p>
                <a:pPr lvl="1"/>
                <a:r>
                  <a:rPr lang="sv-SE" dirty="0"/>
                  <a:t>E</a:t>
                </a:r>
                <a:r>
                  <a:rPr lang="en-GB" dirty="0" err="1"/>
                  <a:t>ach</a:t>
                </a:r>
                <a:r>
                  <a:rPr lang="en-GB" dirty="0"/>
                  <a:t> glucose molecule can produce max 36 ATP</a:t>
                </a:r>
              </a:p>
              <a:p>
                <a:pPr lvl="1"/>
                <a:r>
                  <a:rPr lang="sv-SE" dirty="0"/>
                  <a:t>I</a:t>
                </a:r>
                <a:r>
                  <a:rPr lang="en-GB" dirty="0"/>
                  <a:t>f you know glucose uptake (</a:t>
                </a:r>
                <a:r>
                  <a:rPr lang="en-GB" dirty="0" err="1"/>
                  <a:t>r</a:t>
                </a:r>
                <a:r>
                  <a:rPr lang="en-GB" baseline="-25000" dirty="0" err="1"/>
                  <a:t>s</a:t>
                </a:r>
                <a:r>
                  <a:rPr lang="en-GB" dirty="0"/>
                  <a:t>) and efficiency of ATP production, you can calculate </a:t>
                </a:r>
                <a:r>
                  <a:rPr lang="en-GB" dirty="0" err="1"/>
                  <a:t>r</a:t>
                </a:r>
                <a:r>
                  <a:rPr lang="en-GB" baseline="-25000" dirty="0" err="1"/>
                  <a:t>ATP</a:t>
                </a:r>
                <a:r>
                  <a:rPr lang="en-GB" dirty="0"/>
                  <a:t>.</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3"/>
                <a:stretch>
                  <a:fillRect l="-495" t="-101"/>
                </a:stretch>
              </a:blipFill>
            </p:spPr>
            <p:txBody>
              <a:bodyPr/>
              <a:lstStyle/>
              <a:p>
                <a:r>
                  <a:rPr lang="en-GB">
                    <a:noFill/>
                  </a:rPr>
                  <a:t> </a:t>
                </a:r>
              </a:p>
            </p:txBody>
          </p:sp>
        </mc:Fallback>
      </mc:AlternateContent>
      <p:sp>
        <p:nvSpPr>
          <p:cNvPr id="3" name="Title 2"/>
          <p:cNvSpPr>
            <a:spLocks noGrp="1"/>
          </p:cNvSpPr>
          <p:nvPr>
            <p:ph type="title"/>
          </p:nvPr>
        </p:nvSpPr>
        <p:spPr/>
        <p:txBody>
          <a:bodyPr/>
          <a:lstStyle/>
          <a:p>
            <a:r>
              <a:rPr lang="en-GB"/>
              <a:t>Calculate Y</a:t>
            </a:r>
            <a:r>
              <a:rPr lang="en-GB" baseline="-25000"/>
              <a:t>x,ATP</a:t>
            </a:r>
            <a:r>
              <a:rPr lang="en-GB"/>
              <a:t> and m</a:t>
            </a:r>
            <a:r>
              <a:rPr lang="en-GB" baseline="-25000"/>
              <a:t>ATP</a:t>
            </a:r>
            <a:endParaRPr lang="en-GB"/>
          </a:p>
        </p:txBody>
      </p:sp>
      <p:grpSp>
        <p:nvGrpSpPr>
          <p:cNvPr id="4" name="Group 3">
            <a:extLst>
              <a:ext uri="{FF2B5EF4-FFF2-40B4-BE49-F238E27FC236}">
                <a16:creationId xmlns:a16="http://schemas.microsoft.com/office/drawing/2014/main" id="{70BA2F79-BF16-48F6-B6C0-A8E92F9D508A}"/>
              </a:ext>
            </a:extLst>
          </p:cNvPr>
          <p:cNvGrpSpPr/>
          <p:nvPr/>
        </p:nvGrpSpPr>
        <p:grpSpPr>
          <a:xfrm>
            <a:off x="1587274" y="3209345"/>
            <a:ext cx="5969451" cy="3663292"/>
            <a:chOff x="1379458" y="2605147"/>
            <a:chExt cx="5969451" cy="3663292"/>
          </a:xfrm>
        </p:grpSpPr>
        <p:grpSp>
          <p:nvGrpSpPr>
            <p:cNvPr id="6" name="Group 5"/>
            <p:cNvGrpSpPr/>
            <p:nvPr/>
          </p:nvGrpSpPr>
          <p:grpSpPr>
            <a:xfrm>
              <a:off x="1379458" y="2605147"/>
              <a:ext cx="5969451" cy="3663292"/>
              <a:chOff x="1379458" y="2605147"/>
              <a:chExt cx="5969451" cy="3663292"/>
            </a:xfrm>
          </p:grpSpPr>
          <p:pic>
            <p:nvPicPr>
              <p:cNvPr id="8194" name="Picture 2"/>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10083" y="2605147"/>
                <a:ext cx="5838826" cy="36632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rot="16200000">
                <a:off x="-78384" y="4062989"/>
                <a:ext cx="3285016" cy="369332"/>
              </a:xfrm>
              <a:prstGeom prst="rect">
                <a:avLst/>
              </a:prstGeom>
              <a:solidFill>
                <a:schemeClr val="bg1"/>
              </a:solidFill>
            </p:spPr>
            <p:txBody>
              <a:bodyPr wrap="square" rtlCol="0">
                <a:spAutoFit/>
              </a:bodyPr>
              <a:lstStyle/>
              <a:p>
                <a:pPr algn="ctr"/>
                <a:r>
                  <a:rPr lang="en-GB">
                    <a:latin typeface="Calibri" panose="020F0502020204030204" pitchFamily="34" charset="0"/>
                  </a:rPr>
                  <a:t>r</a:t>
                </a:r>
                <a:r>
                  <a:rPr lang="en-GB" baseline="-25000">
                    <a:latin typeface="Calibri" panose="020F0502020204030204" pitchFamily="34" charset="0"/>
                  </a:rPr>
                  <a:t>ATP</a:t>
                </a:r>
                <a:r>
                  <a:rPr lang="en-GB">
                    <a:latin typeface="Calibri" panose="020F0502020204030204" pitchFamily="34" charset="0"/>
                  </a:rPr>
                  <a:t> (mmol gDCW</a:t>
                </a:r>
                <a:r>
                  <a:rPr lang="en-GB" baseline="30000">
                    <a:latin typeface="Calibri" panose="020F0502020204030204" pitchFamily="34" charset="0"/>
                  </a:rPr>
                  <a:t>-1</a:t>
                </a:r>
                <a:r>
                  <a:rPr lang="en-GB">
                    <a:latin typeface="Calibri" panose="020F0502020204030204" pitchFamily="34" charset="0"/>
                  </a:rPr>
                  <a:t> h</a:t>
                </a:r>
                <a:r>
                  <a:rPr lang="en-GB" baseline="30000">
                    <a:latin typeface="Calibri" panose="020F0502020204030204" pitchFamily="34" charset="0"/>
                  </a:rPr>
                  <a:t>-1</a:t>
                </a:r>
                <a:r>
                  <a:rPr lang="en-GB">
                    <a:latin typeface="Calibri" panose="020F0502020204030204" pitchFamily="34" charset="0"/>
                  </a:rPr>
                  <a:t>)</a:t>
                </a:r>
              </a:p>
            </p:txBody>
          </p:sp>
        </p:grpSp>
        <p:sp>
          <p:nvSpPr>
            <p:cNvPr id="7" name="Isosceles Triangle 6"/>
            <p:cNvSpPr/>
            <p:nvPr/>
          </p:nvSpPr>
          <p:spPr>
            <a:xfrm>
              <a:off x="2161309" y="2992582"/>
              <a:ext cx="4738255" cy="2565071"/>
            </a:xfrm>
            <a:prstGeom prst="triangle">
              <a:avLst>
                <a:gd name="adj" fmla="val 100000"/>
              </a:avLst>
            </a:prstGeom>
            <a:gradFill>
              <a:gsLst>
                <a:gs pos="0">
                  <a:schemeClr val="accent1">
                    <a:tint val="100000"/>
                    <a:shade val="100000"/>
                    <a:satMod val="130000"/>
                    <a:alpha val="8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9" name="Straight Arrow Connector 8"/>
            <p:cNvCxnSpPr/>
            <p:nvPr/>
          </p:nvCxnSpPr>
          <p:spPr>
            <a:xfrm flipH="1" flipV="1">
              <a:off x="2076450" y="5557653"/>
              <a:ext cx="6350" cy="189097"/>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1" name="Straight Arrow Connector 10"/>
            <p:cNvCxnSpPr/>
            <p:nvPr/>
          </p:nvCxnSpPr>
          <p:spPr>
            <a:xfrm flipH="1" flipV="1">
              <a:off x="3867645" y="5569075"/>
              <a:ext cx="6350" cy="189097"/>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p:nvPr/>
          </p:nvCxnSpPr>
          <p:spPr>
            <a:xfrm flipH="1" flipV="1">
              <a:off x="5648944" y="5557653"/>
              <a:ext cx="6350" cy="189097"/>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259152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D9808A-CCC2-4A0D-830A-2619C968C5AC}"/>
              </a:ext>
            </a:extLst>
          </p:cNvPr>
          <p:cNvSpPr>
            <a:spLocks noGrp="1"/>
          </p:cNvSpPr>
          <p:nvPr>
            <p:ph type="title"/>
          </p:nvPr>
        </p:nvSpPr>
        <p:spPr/>
        <p:txBody>
          <a:bodyPr/>
          <a:lstStyle/>
          <a:p>
            <a:r>
              <a:rPr lang="en-GB"/>
              <a:t>Reduced model</a:t>
            </a:r>
          </a:p>
        </p:txBody>
      </p:sp>
      <p:sp>
        <p:nvSpPr>
          <p:cNvPr id="4" name="TextBox 3">
            <a:extLst>
              <a:ext uri="{FF2B5EF4-FFF2-40B4-BE49-F238E27FC236}">
                <a16:creationId xmlns:a16="http://schemas.microsoft.com/office/drawing/2014/main" id="{93697CC2-8A07-4F3C-B898-29209BEA1D34}"/>
              </a:ext>
            </a:extLst>
          </p:cNvPr>
          <p:cNvSpPr txBox="1"/>
          <p:nvPr/>
        </p:nvSpPr>
        <p:spPr>
          <a:xfrm>
            <a:off x="1369657" y="1327123"/>
            <a:ext cx="1141338"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Glucose</a:t>
            </a:r>
            <a:r>
              <a:rPr lang="en-GB" baseline="-25000">
                <a:latin typeface="Calibri" panose="020F0502020204030204" pitchFamily="34" charset="0"/>
                <a:cs typeface="Calibri" panose="020F0502020204030204" pitchFamily="34" charset="0"/>
              </a:rPr>
              <a:t>out</a:t>
            </a:r>
            <a:endParaRPr lang="en-GB">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46E2914-6C5C-4F12-8D5F-A83DD662BBC4}"/>
              </a:ext>
            </a:extLst>
          </p:cNvPr>
          <p:cNvSpPr txBox="1"/>
          <p:nvPr/>
        </p:nvSpPr>
        <p:spPr>
          <a:xfrm>
            <a:off x="1581895" y="2152511"/>
            <a:ext cx="716863"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Glc6P</a:t>
            </a:r>
          </a:p>
        </p:txBody>
      </p:sp>
      <p:sp>
        <p:nvSpPr>
          <p:cNvPr id="7" name="TextBox 6">
            <a:extLst>
              <a:ext uri="{FF2B5EF4-FFF2-40B4-BE49-F238E27FC236}">
                <a16:creationId xmlns:a16="http://schemas.microsoft.com/office/drawing/2014/main" id="{E6662BA6-25AA-4A3E-8F48-C97C56754B9E}"/>
              </a:ext>
            </a:extLst>
          </p:cNvPr>
          <p:cNvSpPr txBox="1"/>
          <p:nvPr/>
        </p:nvSpPr>
        <p:spPr>
          <a:xfrm>
            <a:off x="1576284" y="2977899"/>
            <a:ext cx="728084"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Fru6P</a:t>
            </a:r>
          </a:p>
        </p:txBody>
      </p:sp>
      <p:sp>
        <p:nvSpPr>
          <p:cNvPr id="9" name="TextBox 8">
            <a:extLst>
              <a:ext uri="{FF2B5EF4-FFF2-40B4-BE49-F238E27FC236}">
                <a16:creationId xmlns:a16="http://schemas.microsoft.com/office/drawing/2014/main" id="{96F4D262-9312-4B25-B0B6-A5864718EB14}"/>
              </a:ext>
            </a:extLst>
          </p:cNvPr>
          <p:cNvSpPr txBox="1"/>
          <p:nvPr/>
        </p:nvSpPr>
        <p:spPr>
          <a:xfrm>
            <a:off x="3053243" y="2913163"/>
            <a:ext cx="841897"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Ribu5P</a:t>
            </a:r>
          </a:p>
        </p:txBody>
      </p:sp>
      <p:sp>
        <p:nvSpPr>
          <p:cNvPr id="10" name="TextBox 9">
            <a:extLst>
              <a:ext uri="{FF2B5EF4-FFF2-40B4-BE49-F238E27FC236}">
                <a16:creationId xmlns:a16="http://schemas.microsoft.com/office/drawing/2014/main" id="{4C1ADF17-550F-4E1C-9A41-2BC70E731A61}"/>
              </a:ext>
            </a:extLst>
          </p:cNvPr>
          <p:cNvSpPr txBox="1"/>
          <p:nvPr/>
        </p:nvSpPr>
        <p:spPr>
          <a:xfrm>
            <a:off x="4294896" y="2913163"/>
            <a:ext cx="720069"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Rib5P</a:t>
            </a:r>
          </a:p>
        </p:txBody>
      </p:sp>
      <p:sp>
        <p:nvSpPr>
          <p:cNvPr id="11" name="TextBox 10">
            <a:extLst>
              <a:ext uri="{FF2B5EF4-FFF2-40B4-BE49-F238E27FC236}">
                <a16:creationId xmlns:a16="http://schemas.microsoft.com/office/drawing/2014/main" id="{30E24B7C-C6DE-402B-A17C-CEAFA09D8F77}"/>
              </a:ext>
            </a:extLst>
          </p:cNvPr>
          <p:cNvSpPr txBox="1"/>
          <p:nvPr/>
        </p:nvSpPr>
        <p:spPr>
          <a:xfrm>
            <a:off x="1590711" y="3803287"/>
            <a:ext cx="699230"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GA3P</a:t>
            </a:r>
          </a:p>
        </p:txBody>
      </p:sp>
      <p:sp>
        <p:nvSpPr>
          <p:cNvPr id="12" name="TextBox 11">
            <a:extLst>
              <a:ext uri="{FF2B5EF4-FFF2-40B4-BE49-F238E27FC236}">
                <a16:creationId xmlns:a16="http://schemas.microsoft.com/office/drawing/2014/main" id="{B97F3713-6F48-4811-9CCB-6CCDF4A4108D}"/>
              </a:ext>
            </a:extLst>
          </p:cNvPr>
          <p:cNvSpPr txBox="1"/>
          <p:nvPr/>
        </p:nvSpPr>
        <p:spPr>
          <a:xfrm>
            <a:off x="1435348" y="4628675"/>
            <a:ext cx="1009956"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Pyruvate</a:t>
            </a:r>
          </a:p>
        </p:txBody>
      </p:sp>
      <p:sp>
        <p:nvSpPr>
          <p:cNvPr id="13" name="TextBox 12">
            <a:extLst>
              <a:ext uri="{FF2B5EF4-FFF2-40B4-BE49-F238E27FC236}">
                <a16:creationId xmlns:a16="http://schemas.microsoft.com/office/drawing/2014/main" id="{3944D07B-41E2-4944-987A-FD9C95CCD336}"/>
              </a:ext>
            </a:extLst>
          </p:cNvPr>
          <p:cNvSpPr txBox="1"/>
          <p:nvPr/>
        </p:nvSpPr>
        <p:spPr>
          <a:xfrm>
            <a:off x="551601" y="4858502"/>
            <a:ext cx="798617" cy="646331"/>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Amino</a:t>
            </a:r>
          </a:p>
          <a:p>
            <a:pPr algn="ctr"/>
            <a:r>
              <a:rPr lang="en-GB">
                <a:latin typeface="Calibri" panose="020F0502020204030204" pitchFamily="34" charset="0"/>
                <a:cs typeface="Calibri" panose="020F0502020204030204" pitchFamily="34" charset="0"/>
              </a:rPr>
              <a:t>acids</a:t>
            </a:r>
          </a:p>
        </p:txBody>
      </p:sp>
      <p:sp>
        <p:nvSpPr>
          <p:cNvPr id="14" name="TextBox 13">
            <a:extLst>
              <a:ext uri="{FF2B5EF4-FFF2-40B4-BE49-F238E27FC236}">
                <a16:creationId xmlns:a16="http://schemas.microsoft.com/office/drawing/2014/main" id="{EE9C72F0-FDEF-4C7F-B051-2F22C80483C2}"/>
              </a:ext>
            </a:extLst>
          </p:cNvPr>
          <p:cNvSpPr txBox="1"/>
          <p:nvPr/>
        </p:nvSpPr>
        <p:spPr>
          <a:xfrm>
            <a:off x="2743769" y="4628675"/>
            <a:ext cx="1460849"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Acetaldehyde</a:t>
            </a:r>
          </a:p>
        </p:txBody>
      </p:sp>
      <p:sp>
        <p:nvSpPr>
          <p:cNvPr id="16" name="TextBox 15">
            <a:extLst>
              <a:ext uri="{FF2B5EF4-FFF2-40B4-BE49-F238E27FC236}">
                <a16:creationId xmlns:a16="http://schemas.microsoft.com/office/drawing/2014/main" id="{0C8CE21E-DD5E-4733-8029-01CD56F12672}"/>
              </a:ext>
            </a:extLst>
          </p:cNvPr>
          <p:cNvSpPr txBox="1"/>
          <p:nvPr/>
        </p:nvSpPr>
        <p:spPr>
          <a:xfrm>
            <a:off x="3033753" y="5473573"/>
            <a:ext cx="880882"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EtOH</a:t>
            </a:r>
            <a:r>
              <a:rPr lang="en-GB" baseline="-25000">
                <a:latin typeface="Calibri" panose="020F0502020204030204" pitchFamily="34" charset="0"/>
                <a:cs typeface="Calibri" panose="020F0502020204030204" pitchFamily="34" charset="0"/>
              </a:rPr>
              <a:t>out</a:t>
            </a:r>
          </a:p>
        </p:txBody>
      </p:sp>
      <p:sp>
        <p:nvSpPr>
          <p:cNvPr id="17" name="TextBox 16">
            <a:extLst>
              <a:ext uri="{FF2B5EF4-FFF2-40B4-BE49-F238E27FC236}">
                <a16:creationId xmlns:a16="http://schemas.microsoft.com/office/drawing/2014/main" id="{8E0612B5-E4D7-4EC3-908D-758E61AB296C}"/>
              </a:ext>
            </a:extLst>
          </p:cNvPr>
          <p:cNvSpPr txBox="1"/>
          <p:nvPr/>
        </p:nvSpPr>
        <p:spPr>
          <a:xfrm>
            <a:off x="4859726" y="4628675"/>
            <a:ext cx="785793" cy="369332"/>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PHB</a:t>
            </a:r>
            <a:r>
              <a:rPr lang="en-GB" baseline="-25000">
                <a:latin typeface="Calibri" panose="020F0502020204030204" pitchFamily="34" charset="0"/>
                <a:cs typeface="Calibri" panose="020F0502020204030204" pitchFamily="34" charset="0"/>
              </a:rPr>
              <a:t>out</a:t>
            </a:r>
            <a:endParaRPr lang="en-GB">
              <a:latin typeface="Calibri" panose="020F0502020204030204" pitchFamily="34" charset="0"/>
              <a:cs typeface="Calibri" panose="020F0502020204030204" pitchFamily="34" charset="0"/>
            </a:endParaRPr>
          </a:p>
        </p:txBody>
      </p:sp>
      <p:cxnSp>
        <p:nvCxnSpPr>
          <p:cNvPr id="20" name="Straight Arrow Connector 19">
            <a:extLst>
              <a:ext uri="{FF2B5EF4-FFF2-40B4-BE49-F238E27FC236}">
                <a16:creationId xmlns:a16="http://schemas.microsoft.com/office/drawing/2014/main" id="{5A1DC628-9D8A-426C-9958-26671F294264}"/>
              </a:ext>
            </a:extLst>
          </p:cNvPr>
          <p:cNvCxnSpPr>
            <a:stCxn id="4" idx="2"/>
            <a:endCxn id="6" idx="0"/>
          </p:cNvCxnSpPr>
          <p:nvPr/>
        </p:nvCxnSpPr>
        <p:spPr>
          <a:xfrm>
            <a:off x="1940326" y="1696455"/>
            <a:ext cx="1" cy="456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591A9D27-F4CD-4F9B-A71A-8E446603728C}"/>
              </a:ext>
            </a:extLst>
          </p:cNvPr>
          <p:cNvCxnSpPr>
            <a:stCxn id="6" idx="2"/>
            <a:endCxn id="7" idx="0"/>
          </p:cNvCxnSpPr>
          <p:nvPr/>
        </p:nvCxnSpPr>
        <p:spPr>
          <a:xfrm flipH="1">
            <a:off x="1940326" y="2521843"/>
            <a:ext cx="1" cy="456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1F9690F-86BA-41F2-9C63-3847E955F97A}"/>
              </a:ext>
            </a:extLst>
          </p:cNvPr>
          <p:cNvCxnSpPr>
            <a:stCxn id="7" idx="2"/>
            <a:endCxn id="11" idx="0"/>
          </p:cNvCxnSpPr>
          <p:nvPr/>
        </p:nvCxnSpPr>
        <p:spPr>
          <a:xfrm>
            <a:off x="1940326" y="3347231"/>
            <a:ext cx="0" cy="456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49CFE956-ACA5-4FC7-B2EF-D13526CBB0A3}"/>
              </a:ext>
            </a:extLst>
          </p:cNvPr>
          <p:cNvCxnSpPr>
            <a:stCxn id="6" idx="3"/>
            <a:endCxn id="9" idx="0"/>
          </p:cNvCxnSpPr>
          <p:nvPr/>
        </p:nvCxnSpPr>
        <p:spPr>
          <a:xfrm>
            <a:off x="2298758" y="2337177"/>
            <a:ext cx="1175434" cy="57598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Connector: Elbow 29">
            <a:extLst>
              <a:ext uri="{FF2B5EF4-FFF2-40B4-BE49-F238E27FC236}">
                <a16:creationId xmlns:a16="http://schemas.microsoft.com/office/drawing/2014/main" id="{79DAA2BB-166A-49AC-A8E6-52AC0F442C25}"/>
              </a:ext>
            </a:extLst>
          </p:cNvPr>
          <p:cNvCxnSpPr>
            <a:stCxn id="9" idx="2"/>
            <a:endCxn id="7" idx="3"/>
          </p:cNvCxnSpPr>
          <p:nvPr/>
        </p:nvCxnSpPr>
        <p:spPr>
          <a:xfrm rot="5400000" flipH="1">
            <a:off x="2829315" y="2637618"/>
            <a:ext cx="119930" cy="1169824"/>
          </a:xfrm>
          <a:prstGeom prst="bentConnector4">
            <a:avLst>
              <a:gd name="adj1" fmla="val -588702"/>
              <a:gd name="adj2" fmla="val 6799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0835D9C6-459B-4214-B5F0-B52372E69931}"/>
              </a:ext>
            </a:extLst>
          </p:cNvPr>
          <p:cNvCxnSpPr>
            <a:stCxn id="10" idx="2"/>
            <a:endCxn id="11" idx="3"/>
          </p:cNvCxnSpPr>
          <p:nvPr/>
        </p:nvCxnSpPr>
        <p:spPr>
          <a:xfrm rot="5400000">
            <a:off x="3119707" y="2452729"/>
            <a:ext cx="705458" cy="236499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E8E84DAC-B6C0-4924-9483-CDC8D609B612}"/>
              </a:ext>
            </a:extLst>
          </p:cNvPr>
          <p:cNvSpPr txBox="1"/>
          <p:nvPr/>
        </p:nvSpPr>
        <p:spPr>
          <a:xfrm>
            <a:off x="4007584" y="2159284"/>
            <a:ext cx="1300356"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Nucleotides</a:t>
            </a:r>
          </a:p>
        </p:txBody>
      </p:sp>
      <p:cxnSp>
        <p:nvCxnSpPr>
          <p:cNvPr id="38" name="Straight Arrow Connector 37">
            <a:extLst>
              <a:ext uri="{FF2B5EF4-FFF2-40B4-BE49-F238E27FC236}">
                <a16:creationId xmlns:a16="http://schemas.microsoft.com/office/drawing/2014/main" id="{F3212367-94B7-48FE-9F78-E8E6F3FBD522}"/>
              </a:ext>
            </a:extLst>
          </p:cNvPr>
          <p:cNvCxnSpPr>
            <a:stCxn id="11" idx="2"/>
            <a:endCxn id="12" idx="0"/>
          </p:cNvCxnSpPr>
          <p:nvPr/>
        </p:nvCxnSpPr>
        <p:spPr>
          <a:xfrm>
            <a:off x="1940326" y="4172619"/>
            <a:ext cx="0" cy="456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1926EB87-437E-4360-A7C7-4505C6929F35}"/>
              </a:ext>
            </a:extLst>
          </p:cNvPr>
          <p:cNvCxnSpPr>
            <a:cxnSpLocks/>
          </p:cNvCxnSpPr>
          <p:nvPr/>
        </p:nvCxnSpPr>
        <p:spPr>
          <a:xfrm flipH="1">
            <a:off x="1285218" y="4824231"/>
            <a:ext cx="187133" cy="173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FE431197-16C0-47AB-8813-F33408508723}"/>
              </a:ext>
            </a:extLst>
          </p:cNvPr>
          <p:cNvCxnSpPr>
            <a:stCxn id="12" idx="3"/>
            <a:endCxn id="14" idx="1"/>
          </p:cNvCxnSpPr>
          <p:nvPr/>
        </p:nvCxnSpPr>
        <p:spPr>
          <a:xfrm>
            <a:off x="2445304" y="4813341"/>
            <a:ext cx="2984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E1B37240-E5FC-4BAF-B56C-A9C1887C40D1}"/>
              </a:ext>
            </a:extLst>
          </p:cNvPr>
          <p:cNvSpPr txBox="1"/>
          <p:nvPr/>
        </p:nvSpPr>
        <p:spPr>
          <a:xfrm>
            <a:off x="1303393" y="5473573"/>
            <a:ext cx="1273875" cy="646331"/>
          </a:xfrm>
          <a:prstGeom prst="rect">
            <a:avLst/>
          </a:prstGeom>
          <a:noFill/>
        </p:spPr>
        <p:txBody>
          <a:bodyPr wrap="none" rtlCol="0">
            <a:spAutoFit/>
          </a:bodyPr>
          <a:lstStyle/>
          <a:p>
            <a:pPr algn="ctr"/>
            <a:r>
              <a:rPr lang="en-GB">
                <a:latin typeface="Calibri" panose="020F0502020204030204" pitchFamily="34" charset="0"/>
                <a:cs typeface="Calibri" panose="020F0502020204030204" pitchFamily="34" charset="0"/>
              </a:rPr>
              <a:t>3 CO</a:t>
            </a:r>
            <a:r>
              <a:rPr lang="en-GB" baseline="-25000">
                <a:latin typeface="Calibri" panose="020F0502020204030204" pitchFamily="34" charset="0"/>
                <a:cs typeface="Calibri" panose="020F0502020204030204" pitchFamily="34" charset="0"/>
              </a:rPr>
              <a:t>2</a:t>
            </a:r>
            <a:r>
              <a:rPr lang="en-GB">
                <a:latin typeface="Calibri" panose="020F0502020204030204" pitchFamily="34" charset="0"/>
                <a:cs typeface="Calibri" panose="020F0502020204030204" pitchFamily="34" charset="0"/>
              </a:rPr>
              <a:t> + ATP</a:t>
            </a:r>
          </a:p>
          <a:p>
            <a:pPr algn="ctr"/>
            <a:r>
              <a:rPr lang="en-GB">
                <a:latin typeface="Calibri" panose="020F0502020204030204" pitchFamily="34" charset="0"/>
                <a:cs typeface="Calibri" panose="020F0502020204030204" pitchFamily="34" charset="0"/>
              </a:rPr>
              <a:t>+ 5 NADH</a:t>
            </a:r>
          </a:p>
        </p:txBody>
      </p:sp>
      <p:cxnSp>
        <p:nvCxnSpPr>
          <p:cNvPr id="46" name="Straight Arrow Connector 45">
            <a:extLst>
              <a:ext uri="{FF2B5EF4-FFF2-40B4-BE49-F238E27FC236}">
                <a16:creationId xmlns:a16="http://schemas.microsoft.com/office/drawing/2014/main" id="{5965D961-4B36-459A-AB42-2B5BDD97A287}"/>
              </a:ext>
            </a:extLst>
          </p:cNvPr>
          <p:cNvCxnSpPr>
            <a:stCxn id="12" idx="2"/>
            <a:endCxn id="44" idx="0"/>
          </p:cNvCxnSpPr>
          <p:nvPr/>
        </p:nvCxnSpPr>
        <p:spPr>
          <a:xfrm>
            <a:off x="1940326" y="4998007"/>
            <a:ext cx="5" cy="4755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8C8686B-2399-4715-B97E-4FE586364665}"/>
              </a:ext>
            </a:extLst>
          </p:cNvPr>
          <p:cNvCxnSpPr>
            <a:stCxn id="14" idx="2"/>
            <a:endCxn id="16" idx="0"/>
          </p:cNvCxnSpPr>
          <p:nvPr/>
        </p:nvCxnSpPr>
        <p:spPr>
          <a:xfrm>
            <a:off x="3474194" y="4998007"/>
            <a:ext cx="0" cy="4755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562986D7-A630-478A-8C8D-2D190745C1C2}"/>
              </a:ext>
            </a:extLst>
          </p:cNvPr>
          <p:cNvCxnSpPr>
            <a:stCxn id="14" idx="3"/>
            <a:endCxn id="17" idx="1"/>
          </p:cNvCxnSpPr>
          <p:nvPr/>
        </p:nvCxnSpPr>
        <p:spPr>
          <a:xfrm>
            <a:off x="4204618" y="4813341"/>
            <a:ext cx="6551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626DE7B9-8525-408E-B22C-D67818201AC3}"/>
              </a:ext>
            </a:extLst>
          </p:cNvPr>
          <p:cNvCxnSpPr>
            <a:cxnSpLocks/>
            <a:stCxn id="10" idx="0"/>
            <a:endCxn id="35" idx="2"/>
          </p:cNvCxnSpPr>
          <p:nvPr/>
        </p:nvCxnSpPr>
        <p:spPr>
          <a:xfrm flipV="1">
            <a:off x="4654931" y="2528616"/>
            <a:ext cx="2831" cy="3845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78BB5AF7-4A12-4B8F-9B9F-8F2AEC537675}"/>
              </a:ext>
            </a:extLst>
          </p:cNvPr>
          <p:cNvSpPr txBox="1"/>
          <p:nvPr/>
        </p:nvSpPr>
        <p:spPr>
          <a:xfrm>
            <a:off x="5680946" y="1471027"/>
            <a:ext cx="1414170"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2 NADH + O</a:t>
            </a:r>
            <a:r>
              <a:rPr lang="en-GB" baseline="-25000">
                <a:latin typeface="Calibri" panose="020F0502020204030204" pitchFamily="34" charset="0"/>
                <a:cs typeface="Calibri" panose="020F0502020204030204" pitchFamily="34" charset="0"/>
              </a:rPr>
              <a:t>2</a:t>
            </a:r>
          </a:p>
        </p:txBody>
      </p:sp>
      <p:sp>
        <p:nvSpPr>
          <p:cNvPr id="58" name="TextBox 57">
            <a:extLst>
              <a:ext uri="{FF2B5EF4-FFF2-40B4-BE49-F238E27FC236}">
                <a16:creationId xmlns:a16="http://schemas.microsoft.com/office/drawing/2014/main" id="{A8A8FED2-FB44-492C-AE4B-5F75B8A846F9}"/>
              </a:ext>
            </a:extLst>
          </p:cNvPr>
          <p:cNvSpPr txBox="1"/>
          <p:nvPr/>
        </p:nvSpPr>
        <p:spPr>
          <a:xfrm>
            <a:off x="7475026" y="1471027"/>
            <a:ext cx="1312347"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5 ATP + CO2</a:t>
            </a:r>
          </a:p>
        </p:txBody>
      </p:sp>
      <p:cxnSp>
        <p:nvCxnSpPr>
          <p:cNvPr id="59" name="Straight Arrow Connector 58">
            <a:extLst>
              <a:ext uri="{FF2B5EF4-FFF2-40B4-BE49-F238E27FC236}">
                <a16:creationId xmlns:a16="http://schemas.microsoft.com/office/drawing/2014/main" id="{4F7BAE9B-F45D-42F5-8311-54FAAC0C48BD}"/>
              </a:ext>
            </a:extLst>
          </p:cNvPr>
          <p:cNvCxnSpPr>
            <a:cxnSpLocks/>
          </p:cNvCxnSpPr>
          <p:nvPr/>
        </p:nvCxnSpPr>
        <p:spPr>
          <a:xfrm>
            <a:off x="7091446" y="1655693"/>
            <a:ext cx="3799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586A07BB-F0A4-47A2-9AFB-82B69CFCD73E}"/>
              </a:ext>
            </a:extLst>
          </p:cNvPr>
          <p:cNvSpPr txBox="1"/>
          <p:nvPr/>
        </p:nvSpPr>
        <p:spPr>
          <a:xfrm>
            <a:off x="5235571" y="3347231"/>
            <a:ext cx="1896288" cy="923330"/>
          </a:xfrm>
          <a:prstGeom prst="rect">
            <a:avLst/>
          </a:prstGeom>
          <a:noFill/>
        </p:spPr>
        <p:txBody>
          <a:bodyPr wrap="none" rtlCol="0">
            <a:spAutoFit/>
          </a:bodyPr>
          <a:lstStyle/>
          <a:p>
            <a:pPr algn="r"/>
            <a:r>
              <a:rPr lang="en-GB">
                <a:latin typeface="Calibri" panose="020F0502020204030204" pitchFamily="34" charset="0"/>
                <a:cs typeface="Calibri" panose="020F0502020204030204" pitchFamily="34" charset="0"/>
              </a:rPr>
              <a:t>4.3 amino acids +</a:t>
            </a:r>
          </a:p>
          <a:p>
            <a:pPr algn="r"/>
            <a:r>
              <a:rPr lang="en-GB">
                <a:latin typeface="Calibri" panose="020F0502020204030204" pitchFamily="34" charset="0"/>
                <a:cs typeface="Calibri" panose="020F0502020204030204" pitchFamily="34" charset="0"/>
              </a:rPr>
              <a:t>0.4 nucleotides +</a:t>
            </a:r>
          </a:p>
          <a:p>
            <a:pPr algn="r"/>
            <a:r>
              <a:rPr lang="en-GB">
                <a:latin typeface="Calibri" panose="020F0502020204030204" pitchFamily="34" charset="0"/>
                <a:cs typeface="Calibri" panose="020F0502020204030204" pitchFamily="34" charset="0"/>
              </a:rPr>
              <a:t>25 ATP + 2 NADPH</a:t>
            </a:r>
          </a:p>
        </p:txBody>
      </p:sp>
      <p:sp>
        <p:nvSpPr>
          <p:cNvPr id="62" name="TextBox 61">
            <a:extLst>
              <a:ext uri="{FF2B5EF4-FFF2-40B4-BE49-F238E27FC236}">
                <a16:creationId xmlns:a16="http://schemas.microsoft.com/office/drawing/2014/main" id="{BF97AD91-D137-4DE2-B835-0ABF61122072}"/>
              </a:ext>
            </a:extLst>
          </p:cNvPr>
          <p:cNvSpPr txBox="1"/>
          <p:nvPr/>
        </p:nvSpPr>
        <p:spPr>
          <a:xfrm>
            <a:off x="7507794" y="3629840"/>
            <a:ext cx="955711"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biomass</a:t>
            </a:r>
          </a:p>
        </p:txBody>
      </p:sp>
      <p:cxnSp>
        <p:nvCxnSpPr>
          <p:cNvPr id="63" name="Straight Arrow Connector 62">
            <a:extLst>
              <a:ext uri="{FF2B5EF4-FFF2-40B4-BE49-F238E27FC236}">
                <a16:creationId xmlns:a16="http://schemas.microsoft.com/office/drawing/2014/main" id="{0BD1867E-2365-464A-BAB4-863D218E32E6}"/>
              </a:ext>
            </a:extLst>
          </p:cNvPr>
          <p:cNvCxnSpPr>
            <a:cxnSpLocks/>
            <a:stCxn id="61" idx="3"/>
            <a:endCxn id="62" idx="1"/>
          </p:cNvCxnSpPr>
          <p:nvPr/>
        </p:nvCxnSpPr>
        <p:spPr>
          <a:xfrm>
            <a:off x="7131859" y="3808896"/>
            <a:ext cx="375935" cy="56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08E62A0C-8F6A-425B-8E4A-B7DDB426E3CA}"/>
              </a:ext>
            </a:extLst>
          </p:cNvPr>
          <p:cNvSpPr txBox="1"/>
          <p:nvPr/>
        </p:nvSpPr>
        <p:spPr>
          <a:xfrm>
            <a:off x="6557246" y="1839938"/>
            <a:ext cx="530530" cy="369332"/>
          </a:xfrm>
          <a:prstGeom prst="rect">
            <a:avLst/>
          </a:prstGeom>
          <a:noFill/>
        </p:spPr>
        <p:txBody>
          <a:bodyPr wrap="none" rtlCol="0">
            <a:spAutoFit/>
          </a:bodyPr>
          <a:lstStyle/>
          <a:p>
            <a:pPr algn="r"/>
            <a:r>
              <a:rPr lang="en-GB">
                <a:latin typeface="Calibri" panose="020F0502020204030204" pitchFamily="34" charset="0"/>
                <a:cs typeface="Calibri" panose="020F0502020204030204" pitchFamily="34" charset="0"/>
              </a:rPr>
              <a:t>ATP</a:t>
            </a:r>
          </a:p>
        </p:txBody>
      </p:sp>
      <p:cxnSp>
        <p:nvCxnSpPr>
          <p:cNvPr id="67" name="Straight Arrow Connector 66">
            <a:extLst>
              <a:ext uri="{FF2B5EF4-FFF2-40B4-BE49-F238E27FC236}">
                <a16:creationId xmlns:a16="http://schemas.microsoft.com/office/drawing/2014/main" id="{2AE41E9B-60ED-4ACD-A285-5EE6C5267DE9}"/>
              </a:ext>
            </a:extLst>
          </p:cNvPr>
          <p:cNvCxnSpPr>
            <a:cxnSpLocks/>
          </p:cNvCxnSpPr>
          <p:nvPr/>
        </p:nvCxnSpPr>
        <p:spPr>
          <a:xfrm>
            <a:off x="7087776" y="2021471"/>
            <a:ext cx="3872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60C9CE1B-B2E2-4A75-A722-C5AC323C41F0}"/>
              </a:ext>
            </a:extLst>
          </p:cNvPr>
          <p:cNvSpPr txBox="1"/>
          <p:nvPr/>
        </p:nvSpPr>
        <p:spPr>
          <a:xfrm>
            <a:off x="6558238" y="2568362"/>
            <a:ext cx="536878" cy="369332"/>
          </a:xfrm>
          <a:prstGeom prst="rect">
            <a:avLst/>
          </a:prstGeom>
          <a:noFill/>
        </p:spPr>
        <p:txBody>
          <a:bodyPr wrap="none" rtlCol="0">
            <a:spAutoFit/>
          </a:bodyPr>
          <a:lstStyle/>
          <a:p>
            <a:pPr algn="r"/>
            <a:r>
              <a:rPr lang="en-GB">
                <a:latin typeface="Calibri" panose="020F0502020204030204" pitchFamily="34" charset="0"/>
                <a:cs typeface="Calibri" panose="020F0502020204030204" pitchFamily="34" charset="0"/>
              </a:rPr>
              <a:t>CO</a:t>
            </a:r>
            <a:r>
              <a:rPr lang="en-GB" baseline="-25000">
                <a:latin typeface="Calibri" panose="020F0502020204030204" pitchFamily="34" charset="0"/>
                <a:cs typeface="Calibri" panose="020F0502020204030204" pitchFamily="34" charset="0"/>
              </a:rPr>
              <a:t>2</a:t>
            </a:r>
          </a:p>
        </p:txBody>
      </p:sp>
      <p:sp>
        <p:nvSpPr>
          <p:cNvPr id="71" name="TextBox 70">
            <a:extLst>
              <a:ext uri="{FF2B5EF4-FFF2-40B4-BE49-F238E27FC236}">
                <a16:creationId xmlns:a16="http://schemas.microsoft.com/office/drawing/2014/main" id="{1F6A9372-8F77-409D-AE49-2C634DD76184}"/>
              </a:ext>
            </a:extLst>
          </p:cNvPr>
          <p:cNvSpPr txBox="1"/>
          <p:nvPr/>
        </p:nvSpPr>
        <p:spPr>
          <a:xfrm>
            <a:off x="7475026" y="2568362"/>
            <a:ext cx="750077"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CO</a:t>
            </a:r>
            <a:r>
              <a:rPr lang="en-GB" baseline="-25000">
                <a:latin typeface="Calibri" panose="020F0502020204030204" pitchFamily="34" charset="0"/>
                <a:cs typeface="Calibri" panose="020F0502020204030204" pitchFamily="34" charset="0"/>
              </a:rPr>
              <a:t>2out</a:t>
            </a:r>
            <a:endParaRPr lang="en-GB">
              <a:latin typeface="Calibri" panose="020F0502020204030204" pitchFamily="34" charset="0"/>
              <a:cs typeface="Calibri" panose="020F0502020204030204" pitchFamily="34" charset="0"/>
            </a:endParaRPr>
          </a:p>
        </p:txBody>
      </p:sp>
      <p:cxnSp>
        <p:nvCxnSpPr>
          <p:cNvPr id="72" name="Straight Arrow Connector 71">
            <a:extLst>
              <a:ext uri="{FF2B5EF4-FFF2-40B4-BE49-F238E27FC236}">
                <a16:creationId xmlns:a16="http://schemas.microsoft.com/office/drawing/2014/main" id="{8A4F5B91-54CD-40D6-8F09-5E48DDBD17A7}"/>
              </a:ext>
            </a:extLst>
          </p:cNvPr>
          <p:cNvCxnSpPr>
            <a:cxnSpLocks/>
          </p:cNvCxnSpPr>
          <p:nvPr/>
        </p:nvCxnSpPr>
        <p:spPr>
          <a:xfrm>
            <a:off x="7091446" y="2753028"/>
            <a:ext cx="3799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80698E13-38C6-4A75-A581-6191E3FF969F}"/>
              </a:ext>
            </a:extLst>
          </p:cNvPr>
          <p:cNvSpPr txBox="1"/>
          <p:nvPr/>
        </p:nvSpPr>
        <p:spPr>
          <a:xfrm>
            <a:off x="6679618" y="2204086"/>
            <a:ext cx="415498" cy="369332"/>
          </a:xfrm>
          <a:prstGeom prst="rect">
            <a:avLst/>
          </a:prstGeom>
          <a:noFill/>
        </p:spPr>
        <p:txBody>
          <a:bodyPr wrap="none" rtlCol="0">
            <a:spAutoFit/>
          </a:bodyPr>
          <a:lstStyle/>
          <a:p>
            <a:pPr algn="r"/>
            <a:r>
              <a:rPr lang="en-GB">
                <a:latin typeface="Calibri" panose="020F0502020204030204" pitchFamily="34" charset="0"/>
                <a:cs typeface="Calibri" panose="020F0502020204030204" pitchFamily="34" charset="0"/>
              </a:rPr>
              <a:t>O</a:t>
            </a:r>
            <a:r>
              <a:rPr lang="en-GB" baseline="-25000">
                <a:latin typeface="Calibri" panose="020F0502020204030204" pitchFamily="34" charset="0"/>
                <a:cs typeface="Calibri" panose="020F0502020204030204" pitchFamily="34" charset="0"/>
              </a:rPr>
              <a:t>2</a:t>
            </a:r>
          </a:p>
        </p:txBody>
      </p:sp>
      <p:sp>
        <p:nvSpPr>
          <p:cNvPr id="74" name="TextBox 73">
            <a:extLst>
              <a:ext uri="{FF2B5EF4-FFF2-40B4-BE49-F238E27FC236}">
                <a16:creationId xmlns:a16="http://schemas.microsoft.com/office/drawing/2014/main" id="{BE57C269-D94A-4D9C-8225-E7EA8E3745CC}"/>
              </a:ext>
            </a:extLst>
          </p:cNvPr>
          <p:cNvSpPr txBox="1"/>
          <p:nvPr/>
        </p:nvSpPr>
        <p:spPr>
          <a:xfrm>
            <a:off x="7475026" y="2208849"/>
            <a:ext cx="667170" cy="369332"/>
          </a:xfrm>
          <a:prstGeom prst="rect">
            <a:avLst/>
          </a:prstGeom>
          <a:noFill/>
        </p:spPr>
        <p:txBody>
          <a:bodyPr wrap="none" rtlCol="0">
            <a:spAutoFit/>
          </a:bodyPr>
          <a:lstStyle/>
          <a:p>
            <a:r>
              <a:rPr lang="en-GB">
                <a:latin typeface="Calibri" panose="020F0502020204030204" pitchFamily="34" charset="0"/>
                <a:cs typeface="Calibri" panose="020F0502020204030204" pitchFamily="34" charset="0"/>
              </a:rPr>
              <a:t>O</a:t>
            </a:r>
            <a:r>
              <a:rPr lang="en-GB" baseline="-25000">
                <a:latin typeface="Calibri" panose="020F0502020204030204" pitchFamily="34" charset="0"/>
                <a:cs typeface="Calibri" panose="020F0502020204030204" pitchFamily="34" charset="0"/>
              </a:rPr>
              <a:t>2,out</a:t>
            </a:r>
            <a:endParaRPr lang="en-GB">
              <a:latin typeface="Calibri" panose="020F0502020204030204" pitchFamily="34" charset="0"/>
              <a:cs typeface="Calibri" panose="020F0502020204030204" pitchFamily="34" charset="0"/>
            </a:endParaRPr>
          </a:p>
        </p:txBody>
      </p:sp>
      <p:cxnSp>
        <p:nvCxnSpPr>
          <p:cNvPr id="75" name="Straight Arrow Connector 74">
            <a:extLst>
              <a:ext uri="{FF2B5EF4-FFF2-40B4-BE49-F238E27FC236}">
                <a16:creationId xmlns:a16="http://schemas.microsoft.com/office/drawing/2014/main" id="{8E09D2AA-2666-4FB1-888A-4EC87BD89A07}"/>
              </a:ext>
            </a:extLst>
          </p:cNvPr>
          <p:cNvCxnSpPr>
            <a:cxnSpLocks/>
          </p:cNvCxnSpPr>
          <p:nvPr/>
        </p:nvCxnSpPr>
        <p:spPr>
          <a:xfrm>
            <a:off x="7091446" y="2387249"/>
            <a:ext cx="3799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6" name="TextBox 75">
            <a:extLst>
              <a:ext uri="{FF2B5EF4-FFF2-40B4-BE49-F238E27FC236}">
                <a16:creationId xmlns:a16="http://schemas.microsoft.com/office/drawing/2014/main" id="{35E6A0BD-5927-427A-AF6A-9AFCA7BF02BA}"/>
              </a:ext>
            </a:extLst>
          </p:cNvPr>
          <p:cNvSpPr txBox="1"/>
          <p:nvPr/>
        </p:nvSpPr>
        <p:spPr>
          <a:xfrm>
            <a:off x="1353915" y="1639991"/>
            <a:ext cx="455959"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ATP</a:t>
            </a:r>
          </a:p>
        </p:txBody>
      </p:sp>
      <p:sp>
        <p:nvSpPr>
          <p:cNvPr id="77" name="Arc 76">
            <a:extLst>
              <a:ext uri="{FF2B5EF4-FFF2-40B4-BE49-F238E27FC236}">
                <a16:creationId xmlns:a16="http://schemas.microsoft.com/office/drawing/2014/main" id="{99DE5427-998A-4866-9A65-5314B8550F37}"/>
              </a:ext>
            </a:extLst>
          </p:cNvPr>
          <p:cNvSpPr/>
          <p:nvPr/>
        </p:nvSpPr>
        <p:spPr>
          <a:xfrm>
            <a:off x="1590710" y="1787415"/>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8" name="TextBox 77">
            <a:extLst>
              <a:ext uri="{FF2B5EF4-FFF2-40B4-BE49-F238E27FC236}">
                <a16:creationId xmlns:a16="http://schemas.microsoft.com/office/drawing/2014/main" id="{A188F42F-F6F4-4095-8C6F-BD35194B7C98}"/>
              </a:ext>
            </a:extLst>
          </p:cNvPr>
          <p:cNvSpPr txBox="1"/>
          <p:nvPr/>
        </p:nvSpPr>
        <p:spPr>
          <a:xfrm>
            <a:off x="1353915" y="3251315"/>
            <a:ext cx="455959"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ATP</a:t>
            </a:r>
          </a:p>
        </p:txBody>
      </p:sp>
      <p:sp>
        <p:nvSpPr>
          <p:cNvPr id="79" name="Arc 78">
            <a:extLst>
              <a:ext uri="{FF2B5EF4-FFF2-40B4-BE49-F238E27FC236}">
                <a16:creationId xmlns:a16="http://schemas.microsoft.com/office/drawing/2014/main" id="{F6D8FFCA-3753-49B6-B222-A5BD1B141EA2}"/>
              </a:ext>
            </a:extLst>
          </p:cNvPr>
          <p:cNvSpPr/>
          <p:nvPr/>
        </p:nvSpPr>
        <p:spPr>
          <a:xfrm>
            <a:off x="1590710" y="3398739"/>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0" name="TextBox 79">
            <a:extLst>
              <a:ext uri="{FF2B5EF4-FFF2-40B4-BE49-F238E27FC236}">
                <a16:creationId xmlns:a16="http://schemas.microsoft.com/office/drawing/2014/main" id="{D42C2E02-32AD-4B70-8C06-CEB0634C9E48}"/>
              </a:ext>
            </a:extLst>
          </p:cNvPr>
          <p:cNvSpPr txBox="1"/>
          <p:nvPr/>
        </p:nvSpPr>
        <p:spPr>
          <a:xfrm>
            <a:off x="610924" y="4364144"/>
            <a:ext cx="1199752"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2 ATP + NADH</a:t>
            </a:r>
          </a:p>
        </p:txBody>
      </p:sp>
      <p:sp>
        <p:nvSpPr>
          <p:cNvPr id="81" name="Arc 80">
            <a:extLst>
              <a:ext uri="{FF2B5EF4-FFF2-40B4-BE49-F238E27FC236}">
                <a16:creationId xmlns:a16="http://schemas.microsoft.com/office/drawing/2014/main" id="{35675D37-5EB6-4E5D-B95F-4C90A6BE0AC2}"/>
              </a:ext>
            </a:extLst>
          </p:cNvPr>
          <p:cNvSpPr/>
          <p:nvPr/>
        </p:nvSpPr>
        <p:spPr>
          <a:xfrm>
            <a:off x="1590710" y="4278853"/>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2" name="Arc 81">
            <a:extLst>
              <a:ext uri="{FF2B5EF4-FFF2-40B4-BE49-F238E27FC236}">
                <a16:creationId xmlns:a16="http://schemas.microsoft.com/office/drawing/2014/main" id="{EC7CBB41-72F6-4FFA-A0A7-ACD8B40018C5}"/>
              </a:ext>
            </a:extLst>
          </p:cNvPr>
          <p:cNvSpPr/>
          <p:nvPr/>
        </p:nvSpPr>
        <p:spPr>
          <a:xfrm rot="16200000" flipH="1">
            <a:off x="2385536" y="2037254"/>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3" name="TextBox 82">
            <a:extLst>
              <a:ext uri="{FF2B5EF4-FFF2-40B4-BE49-F238E27FC236}">
                <a16:creationId xmlns:a16="http://schemas.microsoft.com/office/drawing/2014/main" id="{4F0AFC83-ACB2-419B-A009-BFA738105890}"/>
              </a:ext>
            </a:extLst>
          </p:cNvPr>
          <p:cNvSpPr txBox="1"/>
          <p:nvPr/>
        </p:nvSpPr>
        <p:spPr>
          <a:xfrm>
            <a:off x="2575537" y="1877662"/>
            <a:ext cx="1326004"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2 NADPH + CO</a:t>
            </a:r>
            <a:r>
              <a:rPr lang="en-GB" sz="1400" baseline="-25000">
                <a:latin typeface="Calibri" panose="020F0502020204030204" pitchFamily="34" charset="0"/>
                <a:cs typeface="Calibri" panose="020F0502020204030204" pitchFamily="34" charset="0"/>
              </a:rPr>
              <a:t>2</a:t>
            </a:r>
          </a:p>
        </p:txBody>
      </p:sp>
      <p:sp>
        <p:nvSpPr>
          <p:cNvPr id="86" name="TextBox 85">
            <a:extLst>
              <a:ext uri="{FF2B5EF4-FFF2-40B4-BE49-F238E27FC236}">
                <a16:creationId xmlns:a16="http://schemas.microsoft.com/office/drawing/2014/main" id="{0CF86C06-9247-44DA-9D8A-72639D0BB848}"/>
              </a:ext>
            </a:extLst>
          </p:cNvPr>
          <p:cNvSpPr txBox="1"/>
          <p:nvPr/>
        </p:nvSpPr>
        <p:spPr>
          <a:xfrm>
            <a:off x="2697866" y="4945113"/>
            <a:ext cx="627095"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NADH</a:t>
            </a:r>
          </a:p>
        </p:txBody>
      </p:sp>
      <p:sp>
        <p:nvSpPr>
          <p:cNvPr id="87" name="Arc 86">
            <a:extLst>
              <a:ext uri="{FF2B5EF4-FFF2-40B4-BE49-F238E27FC236}">
                <a16:creationId xmlns:a16="http://schemas.microsoft.com/office/drawing/2014/main" id="{2D989AA6-7B88-4B96-8CE7-31C2F732A05B}"/>
              </a:ext>
            </a:extLst>
          </p:cNvPr>
          <p:cNvSpPr/>
          <p:nvPr/>
        </p:nvSpPr>
        <p:spPr>
          <a:xfrm>
            <a:off x="3124577" y="5099002"/>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8" name="Arc 87">
            <a:extLst>
              <a:ext uri="{FF2B5EF4-FFF2-40B4-BE49-F238E27FC236}">
                <a16:creationId xmlns:a16="http://schemas.microsoft.com/office/drawing/2014/main" id="{6152A631-7472-4866-A33B-60524B115969}"/>
              </a:ext>
            </a:extLst>
          </p:cNvPr>
          <p:cNvSpPr/>
          <p:nvPr/>
        </p:nvSpPr>
        <p:spPr>
          <a:xfrm rot="16200000" flipH="1">
            <a:off x="2398630" y="4521100"/>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9" name="TextBox 88">
            <a:extLst>
              <a:ext uri="{FF2B5EF4-FFF2-40B4-BE49-F238E27FC236}">
                <a16:creationId xmlns:a16="http://schemas.microsoft.com/office/drawing/2014/main" id="{9E473A88-E403-41A9-A082-15424607B486}"/>
              </a:ext>
            </a:extLst>
          </p:cNvPr>
          <p:cNvSpPr txBox="1"/>
          <p:nvPr/>
        </p:nvSpPr>
        <p:spPr>
          <a:xfrm>
            <a:off x="2588631" y="4411420"/>
            <a:ext cx="458780"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CO</a:t>
            </a:r>
            <a:r>
              <a:rPr lang="en-GB" sz="1400" baseline="-25000">
                <a:latin typeface="Calibri" panose="020F0502020204030204" pitchFamily="34" charset="0"/>
                <a:cs typeface="Calibri" panose="020F0502020204030204" pitchFamily="34" charset="0"/>
              </a:rPr>
              <a:t>2</a:t>
            </a:r>
          </a:p>
        </p:txBody>
      </p:sp>
      <p:sp>
        <p:nvSpPr>
          <p:cNvPr id="91" name="Arc 90">
            <a:extLst>
              <a:ext uri="{FF2B5EF4-FFF2-40B4-BE49-F238E27FC236}">
                <a16:creationId xmlns:a16="http://schemas.microsoft.com/office/drawing/2014/main" id="{C63BB2E9-8457-47D2-8B13-D28CC615F018}"/>
              </a:ext>
            </a:extLst>
          </p:cNvPr>
          <p:cNvSpPr/>
          <p:nvPr/>
        </p:nvSpPr>
        <p:spPr>
          <a:xfrm rot="16200000" flipH="1">
            <a:off x="4307511" y="4515767"/>
            <a:ext cx="349615" cy="230515"/>
          </a:xfrm>
          <a:prstGeom prst="arc">
            <a:avLst>
              <a:gd name="adj1" fmla="val 16200000"/>
              <a:gd name="adj2" fmla="val 5343719"/>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92" name="TextBox 91">
            <a:extLst>
              <a:ext uri="{FF2B5EF4-FFF2-40B4-BE49-F238E27FC236}">
                <a16:creationId xmlns:a16="http://schemas.microsoft.com/office/drawing/2014/main" id="{AC295F34-84BC-4A55-A006-0201FF60E3C7}"/>
              </a:ext>
            </a:extLst>
          </p:cNvPr>
          <p:cNvSpPr txBox="1"/>
          <p:nvPr/>
        </p:nvSpPr>
        <p:spPr>
          <a:xfrm>
            <a:off x="3324961" y="4356175"/>
            <a:ext cx="1332801" cy="307777"/>
          </a:xfrm>
          <a:prstGeom prst="rect">
            <a:avLst/>
          </a:prstGeom>
          <a:noFill/>
        </p:spPr>
        <p:txBody>
          <a:bodyPr wrap="none" rtlCol="0">
            <a:spAutoFit/>
          </a:bodyPr>
          <a:lstStyle/>
          <a:p>
            <a:r>
              <a:rPr lang="en-GB" sz="1400">
                <a:latin typeface="Calibri" panose="020F0502020204030204" pitchFamily="34" charset="0"/>
                <a:cs typeface="Calibri" panose="020F0502020204030204" pitchFamily="34" charset="0"/>
              </a:rPr>
              <a:t>2 ATP + NADPH</a:t>
            </a:r>
            <a:endParaRPr lang="en-GB" sz="1400" baseline="-25000">
              <a:latin typeface="Calibri" panose="020F0502020204030204" pitchFamily="34" charset="0"/>
              <a:cs typeface="Calibri" panose="020F0502020204030204" pitchFamily="34" charset="0"/>
            </a:endParaRPr>
          </a:p>
        </p:txBody>
      </p:sp>
      <p:sp>
        <p:nvSpPr>
          <p:cNvPr id="98" name="TextBox 97">
            <a:extLst>
              <a:ext uri="{FF2B5EF4-FFF2-40B4-BE49-F238E27FC236}">
                <a16:creationId xmlns:a16="http://schemas.microsoft.com/office/drawing/2014/main" id="{5BBA97DD-E1FA-4BFD-AEA2-35C00D8C014E}"/>
              </a:ext>
            </a:extLst>
          </p:cNvPr>
          <p:cNvSpPr txBox="1"/>
          <p:nvPr/>
        </p:nvSpPr>
        <p:spPr>
          <a:xfrm>
            <a:off x="1952365" y="1741625"/>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a:t>
            </a:r>
          </a:p>
        </p:txBody>
      </p:sp>
      <p:sp>
        <p:nvSpPr>
          <p:cNvPr id="101" name="TextBox 100">
            <a:extLst>
              <a:ext uri="{FF2B5EF4-FFF2-40B4-BE49-F238E27FC236}">
                <a16:creationId xmlns:a16="http://schemas.microsoft.com/office/drawing/2014/main" id="{9F874CD0-104F-4600-8915-84A7B0CA73DC}"/>
              </a:ext>
            </a:extLst>
          </p:cNvPr>
          <p:cNvSpPr txBox="1"/>
          <p:nvPr/>
        </p:nvSpPr>
        <p:spPr>
          <a:xfrm>
            <a:off x="1952365" y="2567000"/>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2</a:t>
            </a:r>
          </a:p>
        </p:txBody>
      </p:sp>
      <p:sp>
        <p:nvSpPr>
          <p:cNvPr id="102" name="TextBox 101">
            <a:extLst>
              <a:ext uri="{FF2B5EF4-FFF2-40B4-BE49-F238E27FC236}">
                <a16:creationId xmlns:a16="http://schemas.microsoft.com/office/drawing/2014/main" id="{2B1ED614-0768-4773-AF35-DB5708F9739E}"/>
              </a:ext>
            </a:extLst>
          </p:cNvPr>
          <p:cNvSpPr txBox="1"/>
          <p:nvPr/>
        </p:nvSpPr>
        <p:spPr>
          <a:xfrm>
            <a:off x="1952365" y="3381119"/>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3</a:t>
            </a:r>
          </a:p>
        </p:txBody>
      </p:sp>
      <p:sp>
        <p:nvSpPr>
          <p:cNvPr id="103" name="TextBox 102">
            <a:extLst>
              <a:ext uri="{FF2B5EF4-FFF2-40B4-BE49-F238E27FC236}">
                <a16:creationId xmlns:a16="http://schemas.microsoft.com/office/drawing/2014/main" id="{25A01819-3807-4899-99B9-2D3951F1B9CB}"/>
              </a:ext>
            </a:extLst>
          </p:cNvPr>
          <p:cNvSpPr txBox="1"/>
          <p:nvPr/>
        </p:nvSpPr>
        <p:spPr>
          <a:xfrm>
            <a:off x="1952365" y="4200809"/>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4</a:t>
            </a:r>
          </a:p>
        </p:txBody>
      </p:sp>
      <p:sp>
        <p:nvSpPr>
          <p:cNvPr id="104" name="TextBox 103">
            <a:extLst>
              <a:ext uri="{FF2B5EF4-FFF2-40B4-BE49-F238E27FC236}">
                <a16:creationId xmlns:a16="http://schemas.microsoft.com/office/drawing/2014/main" id="{641D34CD-FF18-45A7-86D6-1E08A0401D18}"/>
              </a:ext>
            </a:extLst>
          </p:cNvPr>
          <p:cNvSpPr txBox="1"/>
          <p:nvPr/>
        </p:nvSpPr>
        <p:spPr>
          <a:xfrm>
            <a:off x="3133104" y="2339245"/>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5</a:t>
            </a:r>
          </a:p>
        </p:txBody>
      </p:sp>
      <p:sp>
        <p:nvSpPr>
          <p:cNvPr id="105" name="TextBox 104">
            <a:extLst>
              <a:ext uri="{FF2B5EF4-FFF2-40B4-BE49-F238E27FC236}">
                <a16:creationId xmlns:a16="http://schemas.microsoft.com/office/drawing/2014/main" id="{5C51C98F-4831-4158-A775-D66E95CC3ACF}"/>
              </a:ext>
            </a:extLst>
          </p:cNvPr>
          <p:cNvSpPr txBox="1"/>
          <p:nvPr/>
        </p:nvSpPr>
        <p:spPr>
          <a:xfrm>
            <a:off x="3133104" y="3666869"/>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6</a:t>
            </a:r>
          </a:p>
        </p:txBody>
      </p:sp>
      <p:cxnSp>
        <p:nvCxnSpPr>
          <p:cNvPr id="107" name="Straight Arrow Connector 106">
            <a:extLst>
              <a:ext uri="{FF2B5EF4-FFF2-40B4-BE49-F238E27FC236}">
                <a16:creationId xmlns:a16="http://schemas.microsoft.com/office/drawing/2014/main" id="{11CF9AE6-7E6D-4DCB-B2ED-EDA7FA70B443}"/>
              </a:ext>
            </a:extLst>
          </p:cNvPr>
          <p:cNvCxnSpPr>
            <a:stCxn id="9" idx="3"/>
            <a:endCxn id="10" idx="1"/>
          </p:cNvCxnSpPr>
          <p:nvPr/>
        </p:nvCxnSpPr>
        <p:spPr>
          <a:xfrm>
            <a:off x="3895140" y="3097829"/>
            <a:ext cx="3997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8" name="TextBox 107">
            <a:extLst>
              <a:ext uri="{FF2B5EF4-FFF2-40B4-BE49-F238E27FC236}">
                <a16:creationId xmlns:a16="http://schemas.microsoft.com/office/drawing/2014/main" id="{8EB315E8-475E-4F4C-9713-E3EF09DB746C}"/>
              </a:ext>
            </a:extLst>
          </p:cNvPr>
          <p:cNvSpPr txBox="1"/>
          <p:nvPr/>
        </p:nvSpPr>
        <p:spPr>
          <a:xfrm>
            <a:off x="3913904" y="3094225"/>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7</a:t>
            </a:r>
          </a:p>
        </p:txBody>
      </p:sp>
      <p:sp>
        <p:nvSpPr>
          <p:cNvPr id="109" name="TextBox 108">
            <a:extLst>
              <a:ext uri="{FF2B5EF4-FFF2-40B4-BE49-F238E27FC236}">
                <a16:creationId xmlns:a16="http://schemas.microsoft.com/office/drawing/2014/main" id="{0DA81405-FAAC-405B-9F26-DC20EDC440F6}"/>
              </a:ext>
            </a:extLst>
          </p:cNvPr>
          <p:cNvSpPr txBox="1"/>
          <p:nvPr/>
        </p:nvSpPr>
        <p:spPr>
          <a:xfrm>
            <a:off x="4325682" y="2528616"/>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8</a:t>
            </a:r>
          </a:p>
        </p:txBody>
      </p:sp>
      <p:cxnSp>
        <p:nvCxnSpPr>
          <p:cNvPr id="121" name="Straight Arrow Connector 120">
            <a:extLst>
              <a:ext uri="{FF2B5EF4-FFF2-40B4-BE49-F238E27FC236}">
                <a16:creationId xmlns:a16="http://schemas.microsoft.com/office/drawing/2014/main" id="{DFEEA58E-098E-4360-AD14-EB8AA82182BC}"/>
              </a:ext>
            </a:extLst>
          </p:cNvPr>
          <p:cNvCxnSpPr>
            <a:cxnSpLocks/>
          </p:cNvCxnSpPr>
          <p:nvPr/>
        </p:nvCxnSpPr>
        <p:spPr>
          <a:xfrm>
            <a:off x="3424975" y="3282495"/>
            <a:ext cx="0" cy="705459"/>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5" name="Connector: Elbow 124">
            <a:extLst>
              <a:ext uri="{FF2B5EF4-FFF2-40B4-BE49-F238E27FC236}">
                <a16:creationId xmlns:a16="http://schemas.microsoft.com/office/drawing/2014/main" id="{2E7997A3-E9AB-469A-9730-214ACFC39AEE}"/>
              </a:ext>
            </a:extLst>
          </p:cNvPr>
          <p:cNvCxnSpPr>
            <a:cxnSpLocks/>
          </p:cNvCxnSpPr>
          <p:nvPr/>
        </p:nvCxnSpPr>
        <p:spPr>
          <a:xfrm flipH="1">
            <a:off x="2303339" y="3248607"/>
            <a:ext cx="361253" cy="2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4" name="Connector: Elbow 133">
            <a:extLst>
              <a:ext uri="{FF2B5EF4-FFF2-40B4-BE49-F238E27FC236}">
                <a16:creationId xmlns:a16="http://schemas.microsoft.com/office/drawing/2014/main" id="{CD8817F9-9AAA-4FCD-8825-B07D933B34A4}"/>
              </a:ext>
            </a:extLst>
          </p:cNvPr>
          <p:cNvCxnSpPr>
            <a:cxnSpLocks/>
          </p:cNvCxnSpPr>
          <p:nvPr/>
        </p:nvCxnSpPr>
        <p:spPr>
          <a:xfrm rot="16200000" flipH="1">
            <a:off x="1920761" y="3686437"/>
            <a:ext cx="136418" cy="97281"/>
          </a:xfrm>
          <a:prstGeom prst="bentConnector3">
            <a:avLst>
              <a:gd name="adj1" fmla="val 9853"/>
            </a:avLst>
          </a:prstGeom>
          <a:ln>
            <a:tailEnd type="triangle"/>
          </a:ln>
        </p:spPr>
        <p:style>
          <a:lnRef idx="2">
            <a:schemeClr val="accent1"/>
          </a:lnRef>
          <a:fillRef idx="0">
            <a:schemeClr val="accent1"/>
          </a:fillRef>
          <a:effectRef idx="1">
            <a:schemeClr val="accent1"/>
          </a:effectRef>
          <a:fontRef idx="minor">
            <a:schemeClr val="tx1"/>
          </a:fontRef>
        </p:style>
      </p:cxnSp>
      <p:sp>
        <p:nvSpPr>
          <p:cNvPr id="144" name="TextBox 143">
            <a:extLst>
              <a:ext uri="{FF2B5EF4-FFF2-40B4-BE49-F238E27FC236}">
                <a16:creationId xmlns:a16="http://schemas.microsoft.com/office/drawing/2014/main" id="{0CC8F15C-DC6D-4F3B-B83D-6B0E123B783B}"/>
              </a:ext>
            </a:extLst>
          </p:cNvPr>
          <p:cNvSpPr txBox="1"/>
          <p:nvPr/>
        </p:nvSpPr>
        <p:spPr>
          <a:xfrm>
            <a:off x="1105694" y="4628675"/>
            <a:ext cx="325730"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9</a:t>
            </a:r>
          </a:p>
        </p:txBody>
      </p:sp>
      <p:sp>
        <p:nvSpPr>
          <p:cNvPr id="145" name="TextBox 144">
            <a:extLst>
              <a:ext uri="{FF2B5EF4-FFF2-40B4-BE49-F238E27FC236}">
                <a16:creationId xmlns:a16="http://schemas.microsoft.com/office/drawing/2014/main" id="{FD6FD979-0799-421D-A9B3-03E1B89972D5}"/>
              </a:ext>
            </a:extLst>
          </p:cNvPr>
          <p:cNvSpPr txBox="1"/>
          <p:nvPr/>
        </p:nvSpPr>
        <p:spPr>
          <a:xfrm>
            <a:off x="1580799" y="4996454"/>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10</a:t>
            </a:r>
          </a:p>
        </p:txBody>
      </p:sp>
      <p:sp>
        <p:nvSpPr>
          <p:cNvPr id="146" name="TextBox 145">
            <a:extLst>
              <a:ext uri="{FF2B5EF4-FFF2-40B4-BE49-F238E27FC236}">
                <a16:creationId xmlns:a16="http://schemas.microsoft.com/office/drawing/2014/main" id="{5C53EDA4-B5BF-4C77-81A1-0197203B50BA}"/>
              </a:ext>
            </a:extLst>
          </p:cNvPr>
          <p:cNvSpPr txBox="1"/>
          <p:nvPr/>
        </p:nvSpPr>
        <p:spPr>
          <a:xfrm>
            <a:off x="2395309" y="4800571"/>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11</a:t>
            </a:r>
          </a:p>
        </p:txBody>
      </p:sp>
      <p:sp>
        <p:nvSpPr>
          <p:cNvPr id="148" name="TextBox 147">
            <a:extLst>
              <a:ext uri="{FF2B5EF4-FFF2-40B4-BE49-F238E27FC236}">
                <a16:creationId xmlns:a16="http://schemas.microsoft.com/office/drawing/2014/main" id="{D4AE642A-6B6B-4614-A7FB-9B87734D255A}"/>
              </a:ext>
            </a:extLst>
          </p:cNvPr>
          <p:cNvSpPr txBox="1"/>
          <p:nvPr/>
        </p:nvSpPr>
        <p:spPr>
          <a:xfrm>
            <a:off x="4275001" y="4800571"/>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13</a:t>
            </a:r>
          </a:p>
        </p:txBody>
      </p:sp>
      <p:sp>
        <p:nvSpPr>
          <p:cNvPr id="149" name="TextBox 148">
            <a:extLst>
              <a:ext uri="{FF2B5EF4-FFF2-40B4-BE49-F238E27FC236}">
                <a16:creationId xmlns:a16="http://schemas.microsoft.com/office/drawing/2014/main" id="{DF3771DF-DA6D-4EB7-91B8-31EB7A1E0602}"/>
              </a:ext>
            </a:extLst>
          </p:cNvPr>
          <p:cNvSpPr txBox="1"/>
          <p:nvPr/>
        </p:nvSpPr>
        <p:spPr>
          <a:xfrm>
            <a:off x="3474263" y="5055454"/>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12</a:t>
            </a:r>
          </a:p>
        </p:txBody>
      </p:sp>
      <p:sp>
        <p:nvSpPr>
          <p:cNvPr id="150" name="TextBox 149">
            <a:extLst>
              <a:ext uri="{FF2B5EF4-FFF2-40B4-BE49-F238E27FC236}">
                <a16:creationId xmlns:a16="http://schemas.microsoft.com/office/drawing/2014/main" id="{BCF80FF0-8B2A-49E2-ABDD-C37AC9D222D5}"/>
              </a:ext>
            </a:extLst>
          </p:cNvPr>
          <p:cNvSpPr txBox="1"/>
          <p:nvPr/>
        </p:nvSpPr>
        <p:spPr>
          <a:xfrm>
            <a:off x="7084712" y="1341921"/>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14</a:t>
            </a:r>
          </a:p>
        </p:txBody>
      </p:sp>
      <p:sp>
        <p:nvSpPr>
          <p:cNvPr id="151" name="TextBox 150">
            <a:extLst>
              <a:ext uri="{FF2B5EF4-FFF2-40B4-BE49-F238E27FC236}">
                <a16:creationId xmlns:a16="http://schemas.microsoft.com/office/drawing/2014/main" id="{F9706A43-DEC1-481A-872B-2D9A15BD120E}"/>
              </a:ext>
            </a:extLst>
          </p:cNvPr>
          <p:cNvSpPr txBox="1"/>
          <p:nvPr/>
        </p:nvSpPr>
        <p:spPr>
          <a:xfrm>
            <a:off x="7084712" y="1716301"/>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15</a:t>
            </a:r>
          </a:p>
        </p:txBody>
      </p:sp>
      <p:sp>
        <p:nvSpPr>
          <p:cNvPr id="152" name="TextBox 151">
            <a:extLst>
              <a:ext uri="{FF2B5EF4-FFF2-40B4-BE49-F238E27FC236}">
                <a16:creationId xmlns:a16="http://schemas.microsoft.com/office/drawing/2014/main" id="{D97ADA66-3B31-43CE-8B25-A9BC07FD360D}"/>
              </a:ext>
            </a:extLst>
          </p:cNvPr>
          <p:cNvSpPr txBox="1"/>
          <p:nvPr/>
        </p:nvSpPr>
        <p:spPr>
          <a:xfrm>
            <a:off x="7084712" y="2079472"/>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16</a:t>
            </a:r>
          </a:p>
        </p:txBody>
      </p:sp>
      <p:sp>
        <p:nvSpPr>
          <p:cNvPr id="153" name="TextBox 152">
            <a:extLst>
              <a:ext uri="{FF2B5EF4-FFF2-40B4-BE49-F238E27FC236}">
                <a16:creationId xmlns:a16="http://schemas.microsoft.com/office/drawing/2014/main" id="{8FD6F38F-6681-4AF0-8110-6612B47D2A20}"/>
              </a:ext>
            </a:extLst>
          </p:cNvPr>
          <p:cNvSpPr txBox="1"/>
          <p:nvPr/>
        </p:nvSpPr>
        <p:spPr>
          <a:xfrm>
            <a:off x="7084712" y="2453292"/>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17</a:t>
            </a:r>
          </a:p>
        </p:txBody>
      </p:sp>
      <p:sp>
        <p:nvSpPr>
          <p:cNvPr id="154" name="TextBox 153">
            <a:extLst>
              <a:ext uri="{FF2B5EF4-FFF2-40B4-BE49-F238E27FC236}">
                <a16:creationId xmlns:a16="http://schemas.microsoft.com/office/drawing/2014/main" id="{F5F1D7AB-5654-4C6C-9513-7A1079B5D170}"/>
              </a:ext>
            </a:extLst>
          </p:cNvPr>
          <p:cNvSpPr txBox="1"/>
          <p:nvPr/>
        </p:nvSpPr>
        <p:spPr>
          <a:xfrm>
            <a:off x="7084712" y="3501118"/>
            <a:ext cx="386644" cy="307777"/>
          </a:xfrm>
          <a:prstGeom prst="rect">
            <a:avLst/>
          </a:prstGeom>
          <a:noFill/>
        </p:spPr>
        <p:txBody>
          <a:bodyPr wrap="none" rtlCol="0">
            <a:spAutoFit/>
          </a:bodyPr>
          <a:lstStyle/>
          <a:p>
            <a:r>
              <a:rPr lang="en-GB" sz="1400" i="1">
                <a:latin typeface="Calibri" panose="020F0502020204030204" pitchFamily="34" charset="0"/>
                <a:cs typeface="Calibri" panose="020F0502020204030204" pitchFamily="34" charset="0"/>
              </a:rPr>
              <a:t>v</a:t>
            </a:r>
            <a:r>
              <a:rPr lang="en-GB" sz="1400" i="1" baseline="-25000">
                <a:latin typeface="Calibri" panose="020F0502020204030204" pitchFamily="34" charset="0"/>
                <a:cs typeface="Calibri" panose="020F0502020204030204" pitchFamily="34" charset="0"/>
              </a:rPr>
              <a:t>18</a:t>
            </a:r>
          </a:p>
        </p:txBody>
      </p:sp>
      <p:sp>
        <p:nvSpPr>
          <p:cNvPr id="155" name="TextBox 154">
            <a:extLst>
              <a:ext uri="{FF2B5EF4-FFF2-40B4-BE49-F238E27FC236}">
                <a16:creationId xmlns:a16="http://schemas.microsoft.com/office/drawing/2014/main" id="{E88668B0-AB51-4A74-A5CA-4CC003A9EDAE}"/>
              </a:ext>
            </a:extLst>
          </p:cNvPr>
          <p:cNvSpPr txBox="1"/>
          <p:nvPr/>
        </p:nvSpPr>
        <p:spPr>
          <a:xfrm>
            <a:off x="6562459" y="6396335"/>
            <a:ext cx="2581541" cy="461665"/>
          </a:xfrm>
          <a:prstGeom prst="rect">
            <a:avLst/>
          </a:prstGeom>
          <a:noFill/>
        </p:spPr>
        <p:txBody>
          <a:bodyPr wrap="none" rtlCol="0">
            <a:spAutoFit/>
          </a:bodyPr>
          <a:lstStyle/>
          <a:p>
            <a:r>
              <a:rPr lang="en-GB" sz="2400" b="1">
                <a:latin typeface="Calibri" panose="020F0502020204030204" pitchFamily="34" charset="0"/>
                <a:cs typeface="Calibri" panose="020F0502020204030204" pitchFamily="34" charset="0"/>
              </a:rPr>
              <a:t>http://etc.ch/gQLF</a:t>
            </a:r>
          </a:p>
        </p:txBody>
      </p:sp>
      <p:sp>
        <p:nvSpPr>
          <p:cNvPr id="2" name="Rectangle 1">
            <a:extLst>
              <a:ext uri="{FF2B5EF4-FFF2-40B4-BE49-F238E27FC236}">
                <a16:creationId xmlns:a16="http://schemas.microsoft.com/office/drawing/2014/main" id="{4B705FFA-8308-4205-B221-645C21F6B0DB}"/>
              </a:ext>
            </a:extLst>
          </p:cNvPr>
          <p:cNvSpPr/>
          <p:nvPr/>
        </p:nvSpPr>
        <p:spPr>
          <a:xfrm>
            <a:off x="6562459" y="1787415"/>
            <a:ext cx="1171841" cy="408631"/>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4" name="Rectangle 83">
            <a:extLst>
              <a:ext uri="{FF2B5EF4-FFF2-40B4-BE49-F238E27FC236}">
                <a16:creationId xmlns:a16="http://schemas.microsoft.com/office/drawing/2014/main" id="{54E1B205-52B2-4544-830A-8259836B4BC4}"/>
              </a:ext>
            </a:extLst>
          </p:cNvPr>
          <p:cNvSpPr/>
          <p:nvPr/>
        </p:nvSpPr>
        <p:spPr>
          <a:xfrm>
            <a:off x="5235571" y="3341585"/>
            <a:ext cx="3227934" cy="928976"/>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49993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2957A7-9BA1-49C6-B564-6633FCAA8510}"/>
              </a:ext>
            </a:extLst>
          </p:cNvPr>
          <p:cNvSpPr>
            <a:spLocks noGrp="1"/>
          </p:cNvSpPr>
          <p:nvPr>
            <p:ph idx="1"/>
          </p:nvPr>
        </p:nvSpPr>
        <p:spPr/>
        <p:txBody>
          <a:bodyPr/>
          <a:lstStyle/>
          <a:p>
            <a:r>
              <a:rPr lang="en-GB"/>
              <a:t>We want to determine non-growth associated maintenance requirement from the wild-type strain (= no PHB production). Glucose uptake is measured at 0.275, while growth is 0.05 and CO</a:t>
            </a:r>
            <a:r>
              <a:rPr lang="en-GB" baseline="-25000"/>
              <a:t>2</a:t>
            </a:r>
            <a:r>
              <a:rPr lang="en-GB"/>
              <a:t> excretion is 5. What is the rate of the non-growth associated maintenance (NGAM)?</a:t>
            </a:r>
          </a:p>
          <a:p>
            <a:endParaRPr lang="en-GB"/>
          </a:p>
        </p:txBody>
      </p:sp>
      <p:sp>
        <p:nvSpPr>
          <p:cNvPr id="3" name="Title 2">
            <a:extLst>
              <a:ext uri="{FF2B5EF4-FFF2-40B4-BE49-F238E27FC236}">
                <a16:creationId xmlns:a16="http://schemas.microsoft.com/office/drawing/2014/main" id="{5FECB62C-EAF9-4FDF-8DF8-4E8435B09FB3}"/>
              </a:ext>
            </a:extLst>
          </p:cNvPr>
          <p:cNvSpPr>
            <a:spLocks noGrp="1"/>
          </p:cNvSpPr>
          <p:nvPr>
            <p:ph type="title"/>
          </p:nvPr>
        </p:nvSpPr>
        <p:spPr/>
        <p:txBody>
          <a:bodyPr/>
          <a:lstStyle/>
          <a:p>
            <a:r>
              <a:rPr lang="en-GB"/>
              <a:t>Question 8</a:t>
            </a:r>
          </a:p>
        </p:txBody>
      </p:sp>
    </p:spTree>
    <p:extLst>
      <p:ext uri="{BB962C8B-B14F-4D97-AF65-F5344CB8AC3E}">
        <p14:creationId xmlns:p14="http://schemas.microsoft.com/office/powerpoint/2010/main" val="1652636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AAB1D8-C5D4-4E7E-B85E-0058490D342A}"/>
              </a:ext>
            </a:extLst>
          </p:cNvPr>
          <p:cNvSpPr>
            <a:spLocks noGrp="1"/>
          </p:cNvSpPr>
          <p:nvPr>
            <p:ph idx="1"/>
          </p:nvPr>
        </p:nvSpPr>
        <p:spPr/>
        <p:txBody>
          <a:bodyPr/>
          <a:lstStyle/>
          <a:p>
            <a:r>
              <a:rPr lang="en-GB"/>
              <a:t>Another cultivation of the same strain, now in anaerobic conditions. To reach the same growth rate (0.05), do you think that the glucose uptake rate will be changed?</a:t>
            </a:r>
          </a:p>
        </p:txBody>
      </p:sp>
      <p:sp>
        <p:nvSpPr>
          <p:cNvPr id="3" name="Title 2">
            <a:extLst>
              <a:ext uri="{FF2B5EF4-FFF2-40B4-BE49-F238E27FC236}">
                <a16:creationId xmlns:a16="http://schemas.microsoft.com/office/drawing/2014/main" id="{C51A1B71-371B-4D86-811C-02EE38579CB5}"/>
              </a:ext>
            </a:extLst>
          </p:cNvPr>
          <p:cNvSpPr>
            <a:spLocks noGrp="1"/>
          </p:cNvSpPr>
          <p:nvPr>
            <p:ph type="title"/>
          </p:nvPr>
        </p:nvSpPr>
        <p:spPr/>
        <p:txBody>
          <a:bodyPr/>
          <a:lstStyle/>
          <a:p>
            <a:r>
              <a:rPr lang="en-GB"/>
              <a:t>Question 9</a:t>
            </a:r>
          </a:p>
        </p:txBody>
      </p:sp>
    </p:spTree>
    <p:extLst>
      <p:ext uri="{BB962C8B-B14F-4D97-AF65-F5344CB8AC3E}">
        <p14:creationId xmlns:p14="http://schemas.microsoft.com/office/powerpoint/2010/main" val="3862237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2C1C0B-302C-4E13-BB7F-D2496664630D}"/>
              </a:ext>
            </a:extLst>
          </p:cNvPr>
          <p:cNvSpPr>
            <a:spLocks noGrp="1"/>
          </p:cNvSpPr>
          <p:nvPr>
            <p:ph idx="1"/>
          </p:nvPr>
        </p:nvSpPr>
        <p:spPr/>
        <p:txBody>
          <a:bodyPr/>
          <a:lstStyle/>
          <a:p>
            <a:r>
              <a:rPr lang="en-GB"/>
              <a:t>The glucose uptake rate in the anaerobic culture is 0.556. This is still the wild-type strain (= no PHB production). What is the NGAM? </a:t>
            </a:r>
          </a:p>
        </p:txBody>
      </p:sp>
      <p:sp>
        <p:nvSpPr>
          <p:cNvPr id="3" name="Title 2">
            <a:extLst>
              <a:ext uri="{FF2B5EF4-FFF2-40B4-BE49-F238E27FC236}">
                <a16:creationId xmlns:a16="http://schemas.microsoft.com/office/drawing/2014/main" id="{B3E6C24C-768F-42E5-BE8C-8FA201ADD695}"/>
              </a:ext>
            </a:extLst>
          </p:cNvPr>
          <p:cNvSpPr>
            <a:spLocks noGrp="1"/>
          </p:cNvSpPr>
          <p:nvPr>
            <p:ph type="title"/>
          </p:nvPr>
        </p:nvSpPr>
        <p:spPr/>
        <p:txBody>
          <a:bodyPr/>
          <a:lstStyle/>
          <a:p>
            <a:r>
              <a:rPr lang="en-GB"/>
              <a:t>Question 10</a:t>
            </a:r>
          </a:p>
        </p:txBody>
      </p:sp>
    </p:spTree>
    <p:extLst>
      <p:ext uri="{BB962C8B-B14F-4D97-AF65-F5344CB8AC3E}">
        <p14:creationId xmlns:p14="http://schemas.microsoft.com/office/powerpoint/2010/main" val="200236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8D2465-44C2-4A85-85B4-F83B5076CB67}"/>
              </a:ext>
            </a:extLst>
          </p:cNvPr>
          <p:cNvSpPr>
            <a:spLocks noGrp="1"/>
          </p:cNvSpPr>
          <p:nvPr>
            <p:ph idx="1"/>
          </p:nvPr>
        </p:nvSpPr>
        <p:spPr/>
        <p:txBody>
          <a:bodyPr/>
          <a:lstStyle/>
          <a:p>
            <a:r>
              <a:rPr lang="en-GB"/>
              <a:t>Now back to the engineered strain. Looking at the metabolic network, you can imagine that the PHB production will be highest when there is no growth and no ethanol secretion, this way you are not wasting any carbons! Assume the ATP maintenance (NGAM) you calculated in question 7, what is the PHB production if the glucose uptake is 10?</a:t>
            </a:r>
          </a:p>
          <a:p>
            <a:endParaRPr lang="en-GB"/>
          </a:p>
          <a:p>
            <a:endParaRPr lang="en-GB"/>
          </a:p>
          <a:p>
            <a:r>
              <a:rPr lang="en-GB"/>
              <a:t>Can you identify a problem with one of the reactions?</a:t>
            </a:r>
          </a:p>
        </p:txBody>
      </p:sp>
      <p:sp>
        <p:nvSpPr>
          <p:cNvPr id="3" name="Title 2">
            <a:extLst>
              <a:ext uri="{FF2B5EF4-FFF2-40B4-BE49-F238E27FC236}">
                <a16:creationId xmlns:a16="http://schemas.microsoft.com/office/drawing/2014/main" id="{7AFB9266-506C-4B09-9D65-40AB02BD357F}"/>
              </a:ext>
            </a:extLst>
          </p:cNvPr>
          <p:cNvSpPr>
            <a:spLocks noGrp="1"/>
          </p:cNvSpPr>
          <p:nvPr>
            <p:ph type="title"/>
          </p:nvPr>
        </p:nvSpPr>
        <p:spPr/>
        <p:txBody>
          <a:bodyPr/>
          <a:lstStyle/>
          <a:p>
            <a:r>
              <a:rPr lang="en-GB"/>
              <a:t>Question 11</a:t>
            </a:r>
          </a:p>
        </p:txBody>
      </p:sp>
      <p:sp>
        <p:nvSpPr>
          <p:cNvPr id="4" name="Title 2">
            <a:extLst>
              <a:ext uri="{FF2B5EF4-FFF2-40B4-BE49-F238E27FC236}">
                <a16:creationId xmlns:a16="http://schemas.microsoft.com/office/drawing/2014/main" id="{897BFC39-218E-4992-AA7F-1C40822A3F74}"/>
              </a:ext>
            </a:extLst>
          </p:cNvPr>
          <p:cNvSpPr txBox="1">
            <a:spLocks/>
          </p:cNvSpPr>
          <p:nvPr/>
        </p:nvSpPr>
        <p:spPr>
          <a:xfrm>
            <a:off x="457200" y="3262556"/>
            <a:ext cx="8229600" cy="543952"/>
          </a:xfrm>
          <a:prstGeom prst="rect">
            <a:avLst/>
          </a:prstGeom>
        </p:spPr>
        <p:txBody>
          <a:bodyPr/>
          <a:lstStyle>
            <a:lvl1pPr algn="ctr" defTabSz="457200" rtl="0" eaLnBrk="1" latinLnBrk="0" hangingPunct="1">
              <a:spcBef>
                <a:spcPct val="0"/>
              </a:spcBef>
              <a:buNone/>
              <a:defRPr sz="2800" b="1" i="0" kern="1200">
                <a:solidFill>
                  <a:schemeClr val="tx1"/>
                </a:solidFill>
                <a:latin typeface="Calibri" panose="020F0502020204030204" pitchFamily="34" charset="0"/>
                <a:ea typeface="+mj-ea"/>
                <a:cs typeface="Arial" panose="020B0604020202020204" pitchFamily="34" charset="0"/>
              </a:defRPr>
            </a:lvl1pPr>
          </a:lstStyle>
          <a:p>
            <a:r>
              <a:rPr lang="en-GB"/>
              <a:t>Question 12</a:t>
            </a:r>
          </a:p>
        </p:txBody>
      </p:sp>
    </p:spTree>
    <p:extLst>
      <p:ext uri="{BB962C8B-B14F-4D97-AF65-F5344CB8AC3E}">
        <p14:creationId xmlns:p14="http://schemas.microsoft.com/office/powerpoint/2010/main" val="3322926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Akzidenz for Chalmers"/>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73060</TotalTime>
  <Words>1141</Words>
  <Application>Microsoft Office PowerPoint</Application>
  <PresentationFormat>On-screen Show (4:3)</PresentationFormat>
  <Paragraphs>243</Paragraphs>
  <Slides>20</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9" baseType="lpstr">
      <vt:lpstr>Arial</vt:lpstr>
      <vt:lpstr>AvantGarde Medium</vt:lpstr>
      <vt:lpstr>Calibri</vt:lpstr>
      <vt:lpstr>Cambria Math</vt:lpstr>
      <vt:lpstr>Lucida Console</vt:lpstr>
      <vt:lpstr>Times</vt:lpstr>
      <vt:lpstr>Times New Roman</vt:lpstr>
      <vt:lpstr>Office Theme</vt:lpstr>
      <vt:lpstr>Equation</vt:lpstr>
      <vt:lpstr>Exercise 2</vt:lpstr>
      <vt:lpstr>Polyhydroxybutarate production</vt:lpstr>
      <vt:lpstr>PowerPoint Presentation</vt:lpstr>
      <vt:lpstr>Question 1</vt:lpstr>
      <vt:lpstr>Reduced model</vt:lpstr>
      <vt:lpstr>Matrix permutations in Matlab</vt:lpstr>
      <vt:lpstr>Something about units of rates</vt:lpstr>
      <vt:lpstr>Specific rates</vt:lpstr>
      <vt:lpstr>Question 6</vt:lpstr>
      <vt:lpstr>Question 7</vt:lpstr>
      <vt:lpstr>Yield coefficient</vt:lpstr>
      <vt:lpstr>Monod: constant yield</vt:lpstr>
      <vt:lpstr>At no growth: still maintenance</vt:lpstr>
      <vt:lpstr>Maintenance energy</vt:lpstr>
      <vt:lpstr>Calculate Yx,ATP and mATP</vt:lpstr>
      <vt:lpstr>Reduced model</vt:lpstr>
      <vt:lpstr>Question 8</vt:lpstr>
      <vt:lpstr>Question 9</vt:lpstr>
      <vt:lpstr>Question 10</vt:lpstr>
      <vt:lpstr>Question 11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Hannah Willen</dc:creator>
  <cp:lastModifiedBy>Eduard Kerkhoven</cp:lastModifiedBy>
  <cp:revision>724</cp:revision>
  <cp:lastPrinted>2019-09-26T14:18:30Z</cp:lastPrinted>
  <dcterms:created xsi:type="dcterms:W3CDTF">2012-04-17T12:02:37Z</dcterms:created>
  <dcterms:modified xsi:type="dcterms:W3CDTF">2019-09-26T22:44:43Z</dcterms:modified>
</cp:coreProperties>
</file>